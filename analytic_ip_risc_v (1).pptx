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imes New Roman Bold" charset="1" panose="02020803070505020304"/>
      <p:regular r:id="rId25"/>
    </p:embeddedFont>
    <p:embeddedFont>
      <p:font typeface="은 바탕" charset="1" panose="040B0600000101010101"/>
      <p:regular r:id="rId26"/>
    </p:embeddedFont>
    <p:embeddedFont>
      <p:font typeface="Times New Roman" charset="1" panose="02020603050405020304"/>
      <p:regular r:id="rId27"/>
    </p:embeddedFont>
    <p:embeddedFont>
      <p:font typeface="Inter Bold" charset="1" panose="02000503000000020004"/>
      <p:regular r:id="rId28"/>
    </p:embeddedFont>
    <p:embeddedFont>
      <p:font typeface="Inter" charset="1" panose="02000503000000020004"/>
      <p:regular r:id="rId29"/>
    </p:embeddedFont>
    <p:embeddedFont>
      <p:font typeface="Canva Sans" charset="1" panose="020B05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png" Type="http://schemas.openxmlformats.org/officeDocument/2006/relationships/image"/><Relationship Id="rId2" Target="../media/image3.jpeg" Type="http://schemas.openxmlformats.org/officeDocument/2006/relationships/image"/><Relationship Id="rId20" Target="../media/image21.png" Type="http://schemas.openxmlformats.org/officeDocument/2006/relationships/image"/><Relationship Id="rId21" Target="../media/image22.png" Type="http://schemas.openxmlformats.org/officeDocument/2006/relationships/image"/><Relationship Id="rId22" Target="../media/image23.png" Type="http://schemas.openxmlformats.org/officeDocument/2006/relationships/image"/><Relationship Id="rId23" Target="../media/image24.png" Type="http://schemas.openxmlformats.org/officeDocument/2006/relationships/image"/><Relationship Id="rId24" Target="https://docs.google.com/spreadsheets/d/1PT-mD0JdhsJSw8ha95OlIpkfR-CbjbiA9QvEzoP1IFw/edit?usp=sharing" TargetMode="External" Type="http://schemas.openxmlformats.org/officeDocument/2006/relationships/hyperlink"/><Relationship Id="rId25" Target="../media/image1.png" Type="http://schemas.openxmlformats.org/officeDocument/2006/relationships/image"/><Relationship Id="rId26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28.jpeg" Type="http://schemas.openxmlformats.org/officeDocument/2006/relationships/image"/><Relationship Id="rId6" Target="../media/image29.jpeg" Type="http://schemas.openxmlformats.org/officeDocument/2006/relationships/image"/><Relationship Id="rId7" Target="../media/image30.jpeg" Type="http://schemas.openxmlformats.org/officeDocument/2006/relationships/image"/><Relationship Id="rId8" Target="../media/image31.jpe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0.jpeg" Type="http://schemas.openxmlformats.org/officeDocument/2006/relationships/image"/><Relationship Id="rId6" Target="../media/image41.jpe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3177" y="2346903"/>
            <a:ext cx="17441285" cy="3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Configurable Performance Monitoring and Analytics IP for RISC-V Processors</a:t>
            </a:r>
          </a:p>
          <a:p>
            <a:pPr algn="ctr">
              <a:lnSpc>
                <a:spcPts val="7200"/>
              </a:lnSpc>
            </a:pPr>
          </a:p>
          <a:p>
            <a:pPr algn="ctr">
              <a:lnSpc>
                <a:spcPts val="72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508296" y="3844938"/>
            <a:ext cx="6930180" cy="619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</a:p>
          <a:p>
            <a:pPr algn="l">
              <a:lnSpc>
                <a:spcPts val="5400"/>
              </a:lnSpc>
            </a:pPr>
          </a:p>
          <a:p>
            <a:pPr algn="l">
              <a:lnSpc>
                <a:spcPts val="54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</a:t>
            </a:r>
          </a:p>
          <a:p>
            <a:pPr algn="l">
              <a:lnSpc>
                <a:spcPts val="54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Pravin A	(24EC121)</a:t>
            </a:r>
          </a:p>
          <a:p>
            <a:pPr algn="l">
              <a:lnSpc>
                <a:spcPts val="54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Pranav J	(24EC117)</a:t>
            </a:r>
          </a:p>
          <a:p>
            <a:pPr algn="l">
              <a:lnSpc>
                <a:spcPts val="54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Laksana A	(24EC077)</a:t>
            </a:r>
          </a:p>
          <a:p>
            <a:pPr algn="l">
              <a:lnSpc>
                <a:spcPts val="54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Thrishna M	(24EC175)</a:t>
            </a:r>
          </a:p>
          <a:p>
            <a:pPr algn="l">
              <a:lnSpc>
                <a:spcPts val="5400"/>
              </a:lnSpc>
            </a:pPr>
          </a:p>
          <a:p>
            <a:pPr algn="l">
              <a:lnSpc>
                <a:spcPts val="54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51698" y="5557276"/>
            <a:ext cx="9759782" cy="327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Guided by</a:t>
            </a:r>
          </a:p>
          <a:p>
            <a:pPr algn="l">
              <a:lnSpc>
                <a:spcPts val="54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Dr. N. KUMARESHAN</a:t>
            </a:r>
          </a:p>
          <a:p>
            <a:pPr algn="l">
              <a:lnSpc>
                <a:spcPts val="36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PROFESSOR , M.E., Ph.D</a:t>
            </a:r>
          </a:p>
          <a:p>
            <a:pPr algn="l">
              <a:lnSpc>
                <a:spcPts val="36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DEPARTMENT  OF ECE</a:t>
            </a:r>
          </a:p>
          <a:p>
            <a:pPr algn="l">
              <a:lnSpc>
                <a:spcPts val="3600"/>
              </a:lnSpc>
            </a:pPr>
            <a:r>
              <a:rPr lang="en-US" b="true" sz="3000" spc="-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SRI ESHWAR COLLEGE OF ENGINEERING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2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5802" y="496919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Outline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802" y="1713671"/>
            <a:ext cx="16467115" cy="516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and Block Diagram</a:t>
            </a:r>
          </a:p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and Software Details</a:t>
            </a:r>
          </a:p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Waveforms and Results</a:t>
            </a:r>
          </a:p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Applications, Limitations and Future Scope</a:t>
            </a:r>
          </a:p>
          <a:p>
            <a:pPr algn="l" marL="1337310" indent="-668655" lvl="1">
              <a:lnSpc>
                <a:spcPts val="4536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3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5802" y="496919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4382" y="1586036"/>
            <a:ext cx="16553517" cy="735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9" indent="-257889" lvl="1">
              <a:lnSpc>
                <a:spcPts val="3693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is an open instruction set architecture, so students, academic teams and start-ups can build their own cores without licence fees.</a:t>
            </a:r>
          </a:p>
          <a:p>
            <a:pPr algn="l" marL="515779" indent="-257889" lvl="1">
              <a:lnSpc>
                <a:spcPts val="3693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Designers must understand what the pipeline actually does: where bottlenecks, hazards and stalls occur while a program runs.</a:t>
            </a:r>
          </a:p>
          <a:p>
            <a:pPr algn="l" marL="515779" indent="-257889" lvl="1">
              <a:lnSpc>
                <a:spcPts val="3693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PMUs / HPMs only count raw events such as cycles, retired instructions, branches and memory operations.</a:t>
            </a:r>
          </a:p>
          <a:p>
            <a:pPr algn="l" marL="515779" indent="-257889" lvl="1">
              <a:lnSpc>
                <a:spcPts val="3693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 like IPC, CPI, stall ratio and forwarding efficiency still need waveforms, custom scripts or manual post-processing.</a:t>
            </a:r>
          </a:p>
          <a:p>
            <a:pPr algn="l" marL="515779" indent="-257889" lvl="1">
              <a:lnSpc>
                <a:spcPts val="3693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PMU events depend on processor-specific signals, so monitoring is hard to reuse across different pipeline designs.</a:t>
            </a:r>
          </a:p>
          <a:p>
            <a:pPr algn="l" marL="515779" indent="-257889" lvl="1">
              <a:lnSpc>
                <a:spcPts val="3693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propose a processor-independent Analytics Soft IP that sits behind a thin wrapper, with no change to the core RTL.</a:t>
            </a:r>
          </a:p>
          <a:p>
            <a:pPr algn="l" marL="515779" indent="-257889" lvl="1">
              <a:lnSpc>
                <a:spcPts val="3693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IP counts events and derives performance metrics automatically; it is designed in RTL and verified through simulation.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5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44626" y="1229058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3206" y="2405815"/>
            <a:ext cx="7912437" cy="705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</a:p>
          <a:p>
            <a:pPr algn="l" marL="542925" indent="-271462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processors need performance monitoring to judge execution efficiency and find bottlenecks.</a:t>
            </a:r>
          </a:p>
          <a:p>
            <a:pPr algn="l" marL="542925" indent="-271462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verification checks that instructions execute correctly, but gives no complete view of performance.</a:t>
            </a:r>
          </a:p>
          <a:p>
            <a:pPr algn="l" marL="542925" indent="-271462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performance analysis is time-consuming and hides execution inefficiencies.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17126" y="2405815"/>
            <a:ext cx="8049597" cy="705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Major challenges</a:t>
            </a:r>
          </a:p>
          <a:p>
            <a:pPr algn="l" marL="542925" indent="-271462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visibility into processor execution and pipeline activity.</a:t>
            </a:r>
          </a:p>
          <a:p>
            <a:pPr algn="l" marL="542925" indent="-271462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identifying data hazards, control hazards and stalls.</a:t>
            </a:r>
          </a:p>
          <a:p>
            <a:pPr algn="l" marL="542925" indent="-271462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integrated metrics such as CPI, IPC and pipeline utilization.</a:t>
            </a:r>
          </a:p>
          <a:p>
            <a:pPr algn="l" marL="542925" indent="-271462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compare performance across different workloads.</a:t>
            </a:r>
          </a:p>
          <a:p>
            <a:pPr algn="l" marL="542925" indent="-271462" lvl="1">
              <a:lnSpc>
                <a:spcPts val="41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flexibility to configure monitoring for different processor architectures.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5802" y="496919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89788" y="1536192"/>
          <a:ext cx="17087850" cy="7696200"/>
        </p:xfrm>
        <a:graphic>
          <a:graphicData uri="http://schemas.openxmlformats.org/drawingml/2006/table">
            <a:tbl>
              <a:tblPr/>
              <a:tblGrid>
                <a:gridCol w="4312767"/>
                <a:gridCol w="3564691"/>
                <a:gridCol w="5128849"/>
                <a:gridCol w="4081543"/>
              </a:tblGrid>
              <a:tr h="6297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Paper 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 details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Disadvantages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17666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Supporting RISC-V Performance Counters through Linux Performance Analysis Tools (Domingos et al., 2023)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Proc. 2023 IEEE 34th Int. Conf. on Application-Specific Systems, Architectures and Processors (ASAP)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Extends Linux perf, the kernel and OpenSBI to support the RISC-V HPM specification; tested on a CVA6 core and a HiFive board.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Software-driven post-processing of raw counter data; higher-level insight needs external tools.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7666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Top-Down Approach to Architecting CPI Component Performance Counters (Eyerman et al., 2007)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Micro, Vol. 27, No. 1, pp. 84-93, 2007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Splits CPI into memory-latency, branch-misprediction, front-end and back-end components using a counter architecture.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Focuses on performance evaluation rather than a reusable hardware analysis block.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17666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 Performance Monitoring of Real-Time Applications in RISC-V Platforms (Soares et al., 2025)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Proc. 2025 Euromicro Conf. on Digital System Design (DSD), pp. 402-409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Low-overhead monitoring framework that gathers essential metrics for timing evaluation of real-time RISC-V systems.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Collected data must be examined externally to get a high-level architectural view.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7666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and Implementation of a Synchronous Hardware Performance Monitor for a RISC-V Space-Oriented Processor (Arribas et al., 2025)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Microprocessors and Microsystems, Vol. 112, Art. 105132, 2025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PMU whose events travel with the instruction through the pipeline and are counted in sync; checked with CoreMark and Dhrystone.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Built for one on-board processor; counts are reported as statistics and further analysis is left to the designer.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7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5802" y="496919"/>
            <a:ext cx="16467115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589788" y="1536192"/>
          <a:ext cx="17087850" cy="7696200"/>
        </p:xfrm>
        <a:graphic>
          <a:graphicData uri="http://schemas.openxmlformats.org/drawingml/2006/table">
            <a:tbl>
              <a:tblPr/>
              <a:tblGrid>
                <a:gridCol w="4312767"/>
                <a:gridCol w="3564691"/>
                <a:gridCol w="5128849"/>
                <a:gridCol w="4081543"/>
              </a:tblGrid>
              <a:tr h="6297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Paper 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Journal details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Methodology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Disadvantages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17666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Highly Reconfigurable Performance Monitoring Unit on RISC-V (Karabulut and Aysu, 2020)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Proc. 2020 IEEE 15th Int. Conf. on Solid-State and Integrated Circuit Technology (ICSICT), pp. 1-3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Reconfigurable hardware PMU for RISC-V in which the events to be counted can be selected.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Mainly counts raw events; IPC, CPI and similar metrics must still be derived externally.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7666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Analysis, Hardware Specification and Design of a Programmable PMU (PPMU) for RISC-V ECUs (Cosimi et al., 2022)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Proc. 2022 IEEE Int. Conf. on Smart Computing (SMARTCOMP), pp. 213-218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Specifies and designs a programmable performance monitoring unit for RISC-V automotive ECUs.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Event-count oriented and tied to processor-specific signals; no built-in derived analytics.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17666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Top-Down Method for Performance Analysis and Counters Architecture (Yasin, 2014)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Proc. 2014 IEEE Int. Symp. on Performance Analysis of Systems and Software (ISPASS), pp. 35-44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Top-down hierarchy that classifies pipeline slots as front-end bound, bad speculation, retiring or back-end bound.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around vendor-specific counters of complex out-of-order cores; not directly usable on simple RISC-V pipelines.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17666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RISC-V in HPC: A Look Into Tools for Performance Monitoring (Banchelli et al., 2025)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ISC High Performance 2025 Workshops, LNCS, Springer, pp. 562-575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Examines the performance-monitoring tools available for RISC-V platforms in high-performance computing.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Tool-level view built on the available hardware counters; no on-chip analytics.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450" y="1623090"/>
            <a:ext cx="17145000" cy="1047600"/>
            <a:chOff x="0" y="0"/>
            <a:chExt cx="22860000" cy="139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00" cy="1396803"/>
            </a:xfrm>
            <a:custGeom>
              <a:avLst/>
              <a:gdLst/>
              <a:ahLst/>
              <a:cxnLst/>
              <a:rect r="r" b="b" t="t" l="l"/>
              <a:pathLst>
                <a:path h="1396803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1396803"/>
                  </a:lnTo>
                  <a:lnTo>
                    <a:pt x="0" y="13968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91" r="0" b="-26889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860000" cy="139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Processor Performance Survey Results </a:t>
              </a: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(N=10 responses)</a:t>
              </a:r>
            </a:p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Analysis of current evaluation tools, bottleneck challenges, and interest in soft IP solutions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1975" y="2991145"/>
            <a:ext cx="5467645" cy="3247730"/>
            <a:chOff x="0" y="0"/>
            <a:chExt cx="7290194" cy="43303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90181" cy="4330319"/>
            </a:xfrm>
            <a:custGeom>
              <a:avLst/>
              <a:gdLst/>
              <a:ahLst/>
              <a:cxnLst/>
              <a:rect r="r" b="b" t="t" l="l"/>
              <a:pathLst>
                <a:path h="4330319" w="7290181">
                  <a:moveTo>
                    <a:pt x="0" y="206166"/>
                  </a:moveTo>
                  <a:cubicBezTo>
                    <a:pt x="0" y="92257"/>
                    <a:pt x="114173" y="0"/>
                    <a:pt x="255143" y="0"/>
                  </a:cubicBezTo>
                  <a:lnTo>
                    <a:pt x="7035038" y="0"/>
                  </a:lnTo>
                  <a:cubicBezTo>
                    <a:pt x="7176008" y="0"/>
                    <a:pt x="7290181" y="92257"/>
                    <a:pt x="7290181" y="206166"/>
                  </a:cubicBezTo>
                  <a:lnTo>
                    <a:pt x="7290181" y="4124150"/>
                  </a:lnTo>
                  <a:cubicBezTo>
                    <a:pt x="7290181" y="4238060"/>
                    <a:pt x="7176008" y="4330319"/>
                    <a:pt x="7035038" y="4330319"/>
                  </a:cubicBezTo>
                  <a:lnTo>
                    <a:pt x="255143" y="4330319"/>
                  </a:lnTo>
                  <a:cubicBezTo>
                    <a:pt x="114173" y="4330319"/>
                    <a:pt x="0" y="4237957"/>
                    <a:pt x="0" y="412415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857250" y="3067345"/>
            <a:ext cx="48768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Academic Status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8200" y="3676945"/>
            <a:ext cx="1752600" cy="1752600"/>
            <a:chOff x="0" y="0"/>
            <a:chExt cx="2336800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36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2336800">
                  <a:moveTo>
                    <a:pt x="0" y="1168400"/>
                  </a:moveTo>
                  <a:cubicBezTo>
                    <a:pt x="0" y="523113"/>
                    <a:pt x="523113" y="0"/>
                    <a:pt x="1168400" y="0"/>
                  </a:cubicBezTo>
                  <a:cubicBezTo>
                    <a:pt x="1813687" y="0"/>
                    <a:pt x="2336800" y="523113"/>
                    <a:pt x="2336800" y="1168400"/>
                  </a:cubicBezTo>
                  <a:cubicBezTo>
                    <a:pt x="2336800" y="1813687"/>
                    <a:pt x="1813687" y="2336800"/>
                    <a:pt x="1168400" y="2336800"/>
                  </a:cubicBezTo>
                  <a:cubicBezTo>
                    <a:pt x="523113" y="2336800"/>
                    <a:pt x="0" y="1813687"/>
                    <a:pt x="0" y="116840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3048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38200" y="3676945"/>
            <a:ext cx="1752600" cy="1752600"/>
            <a:chOff x="0" y="0"/>
            <a:chExt cx="2336800" cy="2336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6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76300" y="3838870"/>
            <a:ext cx="504596" cy="543001"/>
            <a:chOff x="0" y="0"/>
            <a:chExt cx="672795" cy="7240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2846" cy="724027"/>
            </a:xfrm>
            <a:custGeom>
              <a:avLst/>
              <a:gdLst/>
              <a:ahLst/>
              <a:cxnLst/>
              <a:rect r="r" b="b" t="t" l="l"/>
              <a:pathLst>
                <a:path h="724027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724027"/>
                  </a:lnTo>
                  <a:lnTo>
                    <a:pt x="0" y="724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0" b="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0150" y="3676945"/>
            <a:ext cx="523799" cy="419395"/>
            <a:chOff x="0" y="0"/>
            <a:chExt cx="698398" cy="5591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373" cy="559181"/>
            </a:xfrm>
            <a:custGeom>
              <a:avLst/>
              <a:gdLst/>
              <a:ahLst/>
              <a:cxnLst/>
              <a:rect r="r" b="b" t="t" l="l"/>
              <a:pathLst>
                <a:path h="559181" w="698373">
                  <a:moveTo>
                    <a:pt x="0" y="0"/>
                  </a:moveTo>
                  <a:lnTo>
                    <a:pt x="698373" y="0"/>
                  </a:lnTo>
                  <a:lnTo>
                    <a:pt x="698373" y="559181"/>
                  </a:lnTo>
                  <a:lnTo>
                    <a:pt x="0" y="559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9" b="-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24000" y="4362745"/>
            <a:ext cx="381000" cy="381000"/>
            <a:chOff x="0" y="0"/>
            <a:chExt cx="508000" cy="50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08000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62250" y="3276895"/>
            <a:ext cx="3048000" cy="2762402"/>
            <a:chOff x="0" y="0"/>
            <a:chExt cx="4064000" cy="36832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64000" cy="3683200"/>
            </a:xfrm>
            <a:custGeom>
              <a:avLst/>
              <a:gdLst/>
              <a:ahLst/>
              <a:cxnLst/>
              <a:rect r="r" b="b" t="t" l="l"/>
              <a:pathLst>
                <a:path h="36832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3683200"/>
                  </a:lnTo>
                  <a:lnTo>
                    <a:pt x="0" y="368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281" t="0" r="-6628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064000" cy="3683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Undergrad: </a:t>
              </a:r>
              <a:r>
                <a:rPr lang="en-US" b="true" sz="18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80%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PhD Student: </a:t>
              </a:r>
              <a:r>
                <a:rPr lang="en-US" b="true" sz="18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Professional: </a:t>
              </a:r>
              <a:r>
                <a:rPr lang="en-US" b="true" sz="18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10325" y="3010195"/>
            <a:ext cx="5467645" cy="3228680"/>
            <a:chOff x="0" y="0"/>
            <a:chExt cx="7290194" cy="43049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90181" cy="4304919"/>
            </a:xfrm>
            <a:custGeom>
              <a:avLst/>
              <a:gdLst/>
              <a:ahLst/>
              <a:cxnLst/>
              <a:rect r="r" b="b" t="t" l="l"/>
              <a:pathLst>
                <a:path h="4304919" w="7290181">
                  <a:moveTo>
                    <a:pt x="0" y="204957"/>
                  </a:moveTo>
                  <a:cubicBezTo>
                    <a:pt x="0" y="91716"/>
                    <a:pt x="114173" y="0"/>
                    <a:pt x="255143" y="0"/>
                  </a:cubicBezTo>
                  <a:lnTo>
                    <a:pt x="7035038" y="0"/>
                  </a:lnTo>
                  <a:cubicBezTo>
                    <a:pt x="7176008" y="0"/>
                    <a:pt x="7290181" y="91716"/>
                    <a:pt x="7290181" y="204957"/>
                  </a:cubicBezTo>
                  <a:lnTo>
                    <a:pt x="7290181" y="4099959"/>
                  </a:lnTo>
                  <a:cubicBezTo>
                    <a:pt x="7290181" y="4213201"/>
                    <a:pt x="7176008" y="4304919"/>
                    <a:pt x="7035038" y="4304919"/>
                  </a:cubicBezTo>
                  <a:lnTo>
                    <a:pt x="255143" y="4304919"/>
                  </a:lnTo>
                  <a:cubicBezTo>
                    <a:pt x="114173" y="4304919"/>
                    <a:pt x="0" y="4213099"/>
                    <a:pt x="0" y="4099959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6705600" y="3010195"/>
            <a:ext cx="48768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Evaluation Method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86550" y="3676945"/>
            <a:ext cx="1752600" cy="1752600"/>
            <a:chOff x="0" y="0"/>
            <a:chExt cx="2336800" cy="2336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36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2336800">
                  <a:moveTo>
                    <a:pt x="0" y="1168400"/>
                  </a:moveTo>
                  <a:cubicBezTo>
                    <a:pt x="0" y="523113"/>
                    <a:pt x="523113" y="0"/>
                    <a:pt x="1168400" y="0"/>
                  </a:cubicBezTo>
                  <a:cubicBezTo>
                    <a:pt x="1813687" y="0"/>
                    <a:pt x="2336800" y="523113"/>
                    <a:pt x="2336800" y="1168400"/>
                  </a:cubicBezTo>
                  <a:cubicBezTo>
                    <a:pt x="2336800" y="1813687"/>
                    <a:pt x="1813687" y="2336800"/>
                    <a:pt x="1168400" y="2336800"/>
                  </a:cubicBezTo>
                  <a:cubicBezTo>
                    <a:pt x="523113" y="2336800"/>
                    <a:pt x="0" y="1813687"/>
                    <a:pt x="0" y="116840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3048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553325" y="3676945"/>
            <a:ext cx="885596" cy="1752600"/>
            <a:chOff x="0" y="0"/>
            <a:chExt cx="1180795" cy="2336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80846" cy="2336800"/>
            </a:xfrm>
            <a:custGeom>
              <a:avLst/>
              <a:gdLst/>
              <a:ahLst/>
              <a:cxnLst/>
              <a:rect r="r" b="b" t="t" l="l"/>
              <a:pathLst>
                <a:path h="2336800" w="1180846">
                  <a:moveTo>
                    <a:pt x="0" y="0"/>
                  </a:moveTo>
                  <a:lnTo>
                    <a:pt x="1180846" y="0"/>
                  </a:lnTo>
                  <a:lnTo>
                    <a:pt x="1180846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1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724650" y="4724695"/>
            <a:ext cx="838200" cy="705002"/>
            <a:chOff x="0" y="0"/>
            <a:chExt cx="1117600" cy="9400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17600" cy="940054"/>
            </a:xfrm>
            <a:custGeom>
              <a:avLst/>
              <a:gdLst/>
              <a:ahLst/>
              <a:cxnLst/>
              <a:rect r="r" b="b" t="t" l="l"/>
              <a:pathLst>
                <a:path h="940054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940054"/>
                  </a:lnTo>
                  <a:lnTo>
                    <a:pt x="0" y="940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1" b="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677025" y="4277020"/>
            <a:ext cx="343195" cy="552602"/>
            <a:chOff x="0" y="0"/>
            <a:chExt cx="457594" cy="7368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7581" cy="736854"/>
            </a:xfrm>
            <a:custGeom>
              <a:avLst/>
              <a:gdLst/>
              <a:ahLst/>
              <a:cxnLst/>
              <a:rect r="r" b="b" t="t" l="l"/>
              <a:pathLst>
                <a:path h="736854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736854"/>
                  </a:lnTo>
                  <a:lnTo>
                    <a:pt x="0" y="736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" b="-5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724650" y="3838870"/>
            <a:ext cx="504596" cy="543001"/>
            <a:chOff x="0" y="0"/>
            <a:chExt cx="672795" cy="7240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2846" cy="724027"/>
            </a:xfrm>
            <a:custGeom>
              <a:avLst/>
              <a:gdLst/>
              <a:ahLst/>
              <a:cxnLst/>
              <a:rect r="r" b="b" t="t" l="l"/>
              <a:pathLst>
                <a:path h="724027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724027"/>
                  </a:lnTo>
                  <a:lnTo>
                    <a:pt x="0" y="724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0" b="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48500" y="3676945"/>
            <a:ext cx="523799" cy="419395"/>
            <a:chOff x="0" y="0"/>
            <a:chExt cx="698398" cy="5591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8373" cy="559181"/>
            </a:xfrm>
            <a:custGeom>
              <a:avLst/>
              <a:gdLst/>
              <a:ahLst/>
              <a:cxnLst/>
              <a:rect r="r" b="b" t="t" l="l"/>
              <a:pathLst>
                <a:path h="559181" w="698373">
                  <a:moveTo>
                    <a:pt x="0" y="0"/>
                  </a:moveTo>
                  <a:lnTo>
                    <a:pt x="698373" y="0"/>
                  </a:lnTo>
                  <a:lnTo>
                    <a:pt x="698373" y="559181"/>
                  </a:lnTo>
                  <a:lnTo>
                    <a:pt x="0" y="559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9" b="-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372350" y="4362745"/>
            <a:ext cx="381000" cy="381000"/>
            <a:chOff x="0" y="0"/>
            <a:chExt cx="508000" cy="508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508000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610600" y="3181645"/>
            <a:ext cx="3048000" cy="2857795"/>
            <a:chOff x="0" y="0"/>
            <a:chExt cx="4064000" cy="381039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64000" cy="3810400"/>
            </a:xfrm>
            <a:custGeom>
              <a:avLst/>
              <a:gdLst/>
              <a:ahLst/>
              <a:cxnLst/>
              <a:rect r="r" b="b" t="t" l="l"/>
              <a:pathLst>
                <a:path h="38104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3810400"/>
                  </a:lnTo>
                  <a:lnTo>
                    <a:pt x="0" y="381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97" t="0" r="-7029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064000" cy="3810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Waveform: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50%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Manual: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20%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Profiling: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PMU/HPM: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None: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58675" y="2991145"/>
            <a:ext cx="5467645" cy="3247730"/>
            <a:chOff x="0" y="0"/>
            <a:chExt cx="7290194" cy="43303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90181" cy="4330319"/>
            </a:xfrm>
            <a:custGeom>
              <a:avLst/>
              <a:gdLst/>
              <a:ahLst/>
              <a:cxnLst/>
              <a:rect r="r" b="b" t="t" l="l"/>
              <a:pathLst>
                <a:path h="4330319" w="7290181">
                  <a:moveTo>
                    <a:pt x="0" y="206166"/>
                  </a:moveTo>
                  <a:cubicBezTo>
                    <a:pt x="0" y="92257"/>
                    <a:pt x="114173" y="0"/>
                    <a:pt x="255143" y="0"/>
                  </a:cubicBezTo>
                  <a:lnTo>
                    <a:pt x="7035038" y="0"/>
                  </a:lnTo>
                  <a:cubicBezTo>
                    <a:pt x="7176008" y="0"/>
                    <a:pt x="7290181" y="92257"/>
                    <a:pt x="7290181" y="206166"/>
                  </a:cubicBezTo>
                  <a:lnTo>
                    <a:pt x="7290181" y="4124150"/>
                  </a:lnTo>
                  <a:cubicBezTo>
                    <a:pt x="7290181" y="4238060"/>
                    <a:pt x="7176008" y="4330319"/>
                    <a:pt x="7035038" y="4330319"/>
                  </a:cubicBezTo>
                  <a:lnTo>
                    <a:pt x="255143" y="4330319"/>
                  </a:lnTo>
                  <a:cubicBezTo>
                    <a:pt x="114173" y="4330319"/>
                    <a:pt x="0" y="4237957"/>
                    <a:pt x="0" y="4124150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2553950" y="2991145"/>
            <a:ext cx="48768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Time Spent Analyzing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534900" y="3676945"/>
            <a:ext cx="1752600" cy="1752600"/>
            <a:chOff x="0" y="0"/>
            <a:chExt cx="2336800" cy="2336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36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2336800">
                  <a:moveTo>
                    <a:pt x="0" y="1168400"/>
                  </a:moveTo>
                  <a:cubicBezTo>
                    <a:pt x="0" y="523113"/>
                    <a:pt x="523113" y="0"/>
                    <a:pt x="1168400" y="0"/>
                  </a:cubicBezTo>
                  <a:cubicBezTo>
                    <a:pt x="1813687" y="0"/>
                    <a:pt x="2336800" y="523113"/>
                    <a:pt x="2336800" y="1168400"/>
                  </a:cubicBezTo>
                  <a:cubicBezTo>
                    <a:pt x="2336800" y="1813687"/>
                    <a:pt x="1813687" y="2336800"/>
                    <a:pt x="1168400" y="2336800"/>
                  </a:cubicBezTo>
                  <a:cubicBezTo>
                    <a:pt x="523113" y="2336800"/>
                    <a:pt x="0" y="1813687"/>
                    <a:pt x="0" y="116840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3048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411200" y="3676945"/>
            <a:ext cx="876595" cy="1152601"/>
            <a:chOff x="0" y="0"/>
            <a:chExt cx="1168794" cy="15368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68781" cy="1536827"/>
            </a:xfrm>
            <a:custGeom>
              <a:avLst/>
              <a:gdLst/>
              <a:ahLst/>
              <a:cxnLst/>
              <a:rect r="r" b="b" t="t" l="l"/>
              <a:pathLst>
                <a:path h="1536827" w="1168781">
                  <a:moveTo>
                    <a:pt x="0" y="0"/>
                  </a:moveTo>
                  <a:lnTo>
                    <a:pt x="1168781" y="0"/>
                  </a:lnTo>
                  <a:lnTo>
                    <a:pt x="1168781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" b="-2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887325" y="4724695"/>
            <a:ext cx="1361999" cy="705002"/>
            <a:chOff x="0" y="0"/>
            <a:chExt cx="1815998" cy="94000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15973" cy="940054"/>
            </a:xfrm>
            <a:custGeom>
              <a:avLst/>
              <a:gdLst/>
              <a:ahLst/>
              <a:cxnLst/>
              <a:rect r="r" b="b" t="t" l="l"/>
              <a:pathLst>
                <a:path h="940054" w="1815973">
                  <a:moveTo>
                    <a:pt x="0" y="0"/>
                  </a:moveTo>
                  <a:lnTo>
                    <a:pt x="1815973" y="0"/>
                  </a:lnTo>
                  <a:lnTo>
                    <a:pt x="1815973" y="940054"/>
                  </a:lnTo>
                  <a:lnTo>
                    <a:pt x="0" y="940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27" b="5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34900" y="4277020"/>
            <a:ext cx="543001" cy="990600"/>
            <a:chOff x="0" y="0"/>
            <a:chExt cx="724002" cy="1320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24027" cy="1320800"/>
            </a:xfrm>
            <a:custGeom>
              <a:avLst/>
              <a:gdLst/>
              <a:ahLst/>
              <a:cxnLst/>
              <a:rect r="r" b="b" t="t" l="l"/>
              <a:pathLst>
                <a:path h="1320800" w="724027">
                  <a:moveTo>
                    <a:pt x="0" y="0"/>
                  </a:moveTo>
                  <a:lnTo>
                    <a:pt x="724027" y="0"/>
                  </a:lnTo>
                  <a:lnTo>
                    <a:pt x="724027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3" b="-13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573000" y="3838870"/>
            <a:ext cx="504596" cy="543001"/>
            <a:chOff x="0" y="0"/>
            <a:chExt cx="672795" cy="72400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2846" cy="724027"/>
            </a:xfrm>
            <a:custGeom>
              <a:avLst/>
              <a:gdLst/>
              <a:ahLst/>
              <a:cxnLst/>
              <a:rect r="r" b="b" t="t" l="l"/>
              <a:pathLst>
                <a:path h="724027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724027"/>
                  </a:lnTo>
                  <a:lnTo>
                    <a:pt x="0" y="724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50" b="3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896850" y="3676945"/>
            <a:ext cx="523799" cy="419395"/>
            <a:chOff x="0" y="0"/>
            <a:chExt cx="698398" cy="55919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8373" cy="559181"/>
            </a:xfrm>
            <a:custGeom>
              <a:avLst/>
              <a:gdLst/>
              <a:ahLst/>
              <a:cxnLst/>
              <a:rect r="r" b="b" t="t" l="l"/>
              <a:pathLst>
                <a:path h="559181" w="698373">
                  <a:moveTo>
                    <a:pt x="0" y="0"/>
                  </a:moveTo>
                  <a:lnTo>
                    <a:pt x="698373" y="0"/>
                  </a:lnTo>
                  <a:lnTo>
                    <a:pt x="698373" y="559181"/>
                  </a:lnTo>
                  <a:lnTo>
                    <a:pt x="0" y="559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89" b="-2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220700" y="4362745"/>
            <a:ext cx="381000" cy="381000"/>
            <a:chOff x="0" y="0"/>
            <a:chExt cx="508000" cy="508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08000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458950" y="3181645"/>
            <a:ext cx="3048000" cy="2857795"/>
            <a:chOff x="0" y="0"/>
            <a:chExt cx="4064000" cy="381039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64000" cy="3810400"/>
            </a:xfrm>
            <a:custGeom>
              <a:avLst/>
              <a:gdLst/>
              <a:ahLst/>
              <a:cxnLst/>
              <a:rect r="r" b="b" t="t" l="l"/>
              <a:pathLst>
                <a:path h="38104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3810400"/>
                  </a:lnTo>
                  <a:lnTo>
                    <a:pt x="0" y="381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97" t="0" r="-70297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064000" cy="3810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10–30 mins: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30%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&gt;1 hour: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30%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&lt;10 mins: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20%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6 Hours: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06B6D4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7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&gt;1 day: </a:t>
              </a:r>
              <a:r>
                <a:rPr lang="en-US" b="true" sz="17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61975" y="6534150"/>
            <a:ext cx="5467645" cy="3285830"/>
            <a:chOff x="0" y="0"/>
            <a:chExt cx="7290194" cy="438110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290181" cy="4381119"/>
            </a:xfrm>
            <a:custGeom>
              <a:avLst/>
              <a:gdLst/>
              <a:ahLst/>
              <a:cxnLst/>
              <a:rect r="r" b="b" t="t" l="l"/>
              <a:pathLst>
                <a:path h="4381119" w="7290181">
                  <a:moveTo>
                    <a:pt x="0" y="208585"/>
                  </a:moveTo>
                  <a:cubicBezTo>
                    <a:pt x="0" y="93339"/>
                    <a:pt x="114173" y="0"/>
                    <a:pt x="255143" y="0"/>
                  </a:cubicBezTo>
                  <a:lnTo>
                    <a:pt x="7035038" y="0"/>
                  </a:lnTo>
                  <a:cubicBezTo>
                    <a:pt x="7176008" y="0"/>
                    <a:pt x="7290181" y="93339"/>
                    <a:pt x="7290181" y="208585"/>
                  </a:cubicBezTo>
                  <a:lnTo>
                    <a:pt x="7290181" y="4172532"/>
                  </a:lnTo>
                  <a:cubicBezTo>
                    <a:pt x="7290181" y="4287778"/>
                    <a:pt x="7176008" y="4381119"/>
                    <a:pt x="7035038" y="4381119"/>
                  </a:cubicBezTo>
                  <a:lnTo>
                    <a:pt x="255143" y="4381119"/>
                  </a:lnTo>
                  <a:cubicBezTo>
                    <a:pt x="114173" y="4381119"/>
                    <a:pt x="0" y="4287674"/>
                    <a:pt x="0" y="4172532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6" id="66"/>
          <p:cNvSpPr txBox="true"/>
          <p:nvPr/>
        </p:nvSpPr>
        <p:spPr>
          <a:xfrm rot="0">
            <a:off x="857250" y="6648450"/>
            <a:ext cx="48768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Difficult to Identify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838200" y="7258050"/>
            <a:ext cx="1752600" cy="1752600"/>
            <a:chOff x="0" y="0"/>
            <a:chExt cx="2336800" cy="2336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36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2336800">
                  <a:moveTo>
                    <a:pt x="0" y="1168400"/>
                  </a:moveTo>
                  <a:cubicBezTo>
                    <a:pt x="0" y="523113"/>
                    <a:pt x="523113" y="0"/>
                    <a:pt x="1168400" y="0"/>
                  </a:cubicBezTo>
                  <a:cubicBezTo>
                    <a:pt x="1813687" y="0"/>
                    <a:pt x="2336800" y="523113"/>
                    <a:pt x="2336800" y="1168400"/>
                  </a:cubicBezTo>
                  <a:cubicBezTo>
                    <a:pt x="2336800" y="1813687"/>
                    <a:pt x="1813687" y="2336800"/>
                    <a:pt x="1168400" y="2336800"/>
                  </a:cubicBezTo>
                  <a:cubicBezTo>
                    <a:pt x="523113" y="2336800"/>
                    <a:pt x="0" y="1813687"/>
                    <a:pt x="0" y="116840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3048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714500" y="7258050"/>
            <a:ext cx="838200" cy="705002"/>
            <a:chOff x="0" y="0"/>
            <a:chExt cx="1117600" cy="94000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17600" cy="940054"/>
            </a:xfrm>
            <a:custGeom>
              <a:avLst/>
              <a:gdLst/>
              <a:ahLst/>
              <a:cxnLst/>
              <a:rect r="r" b="b" t="t" l="l"/>
              <a:pathLst>
                <a:path h="940054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940054"/>
                  </a:lnTo>
                  <a:lnTo>
                    <a:pt x="0" y="940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21" b="5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047875" y="7858125"/>
            <a:ext cx="543001" cy="990600"/>
            <a:chOff x="0" y="0"/>
            <a:chExt cx="724002" cy="1320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24027" cy="1320800"/>
            </a:xfrm>
            <a:custGeom>
              <a:avLst/>
              <a:gdLst/>
              <a:ahLst/>
              <a:cxnLst/>
              <a:rect r="r" b="b" t="t" l="l"/>
              <a:pathLst>
                <a:path h="1320800" w="724027">
                  <a:moveTo>
                    <a:pt x="0" y="0"/>
                  </a:moveTo>
                  <a:lnTo>
                    <a:pt x="724027" y="0"/>
                  </a:lnTo>
                  <a:lnTo>
                    <a:pt x="724027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3" b="-13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90625" y="8591550"/>
            <a:ext cx="1037996" cy="419395"/>
            <a:chOff x="0" y="0"/>
            <a:chExt cx="1383995" cy="55919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384046" cy="559181"/>
            </a:xfrm>
            <a:custGeom>
              <a:avLst/>
              <a:gdLst/>
              <a:ahLst/>
              <a:cxnLst/>
              <a:rect r="r" b="b" t="t" l="l"/>
              <a:pathLst>
                <a:path h="559181" w="1384046">
                  <a:moveTo>
                    <a:pt x="0" y="0"/>
                  </a:moveTo>
                  <a:lnTo>
                    <a:pt x="1384046" y="0"/>
                  </a:lnTo>
                  <a:lnTo>
                    <a:pt x="1384046" y="559181"/>
                  </a:lnTo>
                  <a:lnTo>
                    <a:pt x="0" y="559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89" b="-2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38200" y="7858125"/>
            <a:ext cx="543001" cy="990600"/>
            <a:chOff x="0" y="0"/>
            <a:chExt cx="724002" cy="1320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24027" cy="1320800"/>
            </a:xfrm>
            <a:custGeom>
              <a:avLst/>
              <a:gdLst/>
              <a:ahLst/>
              <a:cxnLst/>
              <a:rect r="r" b="b" t="t" l="l"/>
              <a:pathLst>
                <a:path h="1320800" w="724027">
                  <a:moveTo>
                    <a:pt x="0" y="0"/>
                  </a:moveTo>
                  <a:lnTo>
                    <a:pt x="724027" y="0"/>
                  </a:lnTo>
                  <a:lnTo>
                    <a:pt x="724027" y="1320800"/>
                  </a:lnTo>
                  <a:lnTo>
                    <a:pt x="0" y="132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3" b="-13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76300" y="7419975"/>
            <a:ext cx="504596" cy="543001"/>
            <a:chOff x="0" y="0"/>
            <a:chExt cx="672795" cy="72400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2846" cy="724027"/>
            </a:xfrm>
            <a:custGeom>
              <a:avLst/>
              <a:gdLst/>
              <a:ahLst/>
              <a:cxnLst/>
              <a:rect r="r" b="b" t="t" l="l"/>
              <a:pathLst>
                <a:path h="724027" w="672846">
                  <a:moveTo>
                    <a:pt x="0" y="0"/>
                  </a:moveTo>
                  <a:lnTo>
                    <a:pt x="672846" y="0"/>
                  </a:lnTo>
                  <a:lnTo>
                    <a:pt x="672846" y="724027"/>
                  </a:lnTo>
                  <a:lnTo>
                    <a:pt x="0" y="724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0" b="3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00150" y="7258050"/>
            <a:ext cx="523799" cy="419395"/>
            <a:chOff x="0" y="0"/>
            <a:chExt cx="698398" cy="55919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98373" cy="559181"/>
            </a:xfrm>
            <a:custGeom>
              <a:avLst/>
              <a:gdLst/>
              <a:ahLst/>
              <a:cxnLst/>
              <a:rect r="r" b="b" t="t" l="l"/>
              <a:pathLst>
                <a:path h="559181" w="698373">
                  <a:moveTo>
                    <a:pt x="0" y="0"/>
                  </a:moveTo>
                  <a:lnTo>
                    <a:pt x="698373" y="0"/>
                  </a:lnTo>
                  <a:lnTo>
                    <a:pt x="698373" y="559181"/>
                  </a:lnTo>
                  <a:lnTo>
                    <a:pt x="0" y="559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9" b="-2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524000" y="7943850"/>
            <a:ext cx="381000" cy="381000"/>
            <a:chOff x="0" y="0"/>
            <a:chExt cx="508000" cy="508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508000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2762250" y="6762750"/>
            <a:ext cx="3048000" cy="2857795"/>
            <a:chOff x="0" y="0"/>
            <a:chExt cx="4064000" cy="381039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064000" cy="3810400"/>
            </a:xfrm>
            <a:custGeom>
              <a:avLst/>
              <a:gdLst/>
              <a:ahLst/>
              <a:cxnLst/>
              <a:rect r="r" b="b" t="t" l="l"/>
              <a:pathLst>
                <a:path h="38104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3810400"/>
                  </a:lnTo>
                  <a:lnTo>
                    <a:pt x="0" y="3810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97" t="0" r="-7029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4064000" cy="3819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5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Pipeline Bottlenecks: </a:t>
              </a:r>
              <a:r>
                <a:rPr lang="en-US" b="true" sz="15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20%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5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Hazard Analysis: </a:t>
              </a:r>
              <a:r>
                <a:rPr lang="en-US" b="true" sz="15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20%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5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Forwarding Effic.: </a:t>
              </a:r>
              <a:r>
                <a:rPr lang="en-US" b="true" sz="15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20%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84CC1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5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Overall Effic.: </a:t>
              </a:r>
              <a:r>
                <a:rPr lang="en-US" b="true" sz="15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20%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5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Stall Causes: </a:t>
              </a:r>
              <a:r>
                <a:rPr lang="en-US" b="true" sz="15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5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Memory Bottlenecks: </a:t>
              </a:r>
              <a:r>
                <a:rPr lang="en-US" b="true" sz="15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10%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6410325" y="6534150"/>
            <a:ext cx="5467645" cy="3285830"/>
            <a:chOff x="0" y="0"/>
            <a:chExt cx="7290194" cy="438110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290181" cy="4381119"/>
            </a:xfrm>
            <a:custGeom>
              <a:avLst/>
              <a:gdLst/>
              <a:ahLst/>
              <a:cxnLst/>
              <a:rect r="r" b="b" t="t" l="l"/>
              <a:pathLst>
                <a:path h="4381119" w="7290181">
                  <a:moveTo>
                    <a:pt x="0" y="208585"/>
                  </a:moveTo>
                  <a:cubicBezTo>
                    <a:pt x="0" y="93339"/>
                    <a:pt x="114173" y="0"/>
                    <a:pt x="255143" y="0"/>
                  </a:cubicBezTo>
                  <a:lnTo>
                    <a:pt x="7035038" y="0"/>
                  </a:lnTo>
                  <a:cubicBezTo>
                    <a:pt x="7176008" y="0"/>
                    <a:pt x="7290181" y="93339"/>
                    <a:pt x="7290181" y="208585"/>
                  </a:cubicBezTo>
                  <a:lnTo>
                    <a:pt x="7290181" y="4172532"/>
                  </a:lnTo>
                  <a:cubicBezTo>
                    <a:pt x="7290181" y="4287778"/>
                    <a:pt x="7176008" y="4381119"/>
                    <a:pt x="7035038" y="4381119"/>
                  </a:cubicBezTo>
                  <a:lnTo>
                    <a:pt x="255143" y="4381119"/>
                  </a:lnTo>
                  <a:cubicBezTo>
                    <a:pt x="114173" y="4381119"/>
                    <a:pt x="0" y="4287674"/>
                    <a:pt x="0" y="4172532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89" id="89"/>
          <p:cNvSpPr txBox="true"/>
          <p:nvPr/>
        </p:nvSpPr>
        <p:spPr>
          <a:xfrm rot="0">
            <a:off x="6705600" y="6605588"/>
            <a:ext cx="4876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Existing </a:t>
            </a:r>
            <a:r>
              <a:rPr lang="en-US" sz="219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PMU Counters Enough?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6686550" y="7258050"/>
            <a:ext cx="1752600" cy="1752600"/>
            <a:chOff x="0" y="0"/>
            <a:chExt cx="2336800" cy="2336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336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2336800">
                  <a:moveTo>
                    <a:pt x="0" y="1168400"/>
                  </a:moveTo>
                  <a:cubicBezTo>
                    <a:pt x="0" y="523113"/>
                    <a:pt x="523113" y="0"/>
                    <a:pt x="1168400" y="0"/>
                  </a:cubicBezTo>
                  <a:cubicBezTo>
                    <a:pt x="1813687" y="0"/>
                    <a:pt x="2336800" y="523113"/>
                    <a:pt x="2336800" y="1168400"/>
                  </a:cubicBezTo>
                  <a:cubicBezTo>
                    <a:pt x="2336800" y="1813687"/>
                    <a:pt x="1813687" y="2336800"/>
                    <a:pt x="1168400" y="2336800"/>
                  </a:cubicBezTo>
                  <a:cubicBezTo>
                    <a:pt x="523113" y="2336800"/>
                    <a:pt x="0" y="1813687"/>
                    <a:pt x="0" y="116840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3048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7038975" y="7258050"/>
            <a:ext cx="1400404" cy="1752600"/>
            <a:chOff x="0" y="0"/>
            <a:chExt cx="1867205" cy="23368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867154" cy="2336800"/>
            </a:xfrm>
            <a:custGeom>
              <a:avLst/>
              <a:gdLst/>
              <a:ahLst/>
              <a:cxnLst/>
              <a:rect r="r" b="b" t="t" l="l"/>
              <a:pathLst>
                <a:path h="2336800" w="1867154">
                  <a:moveTo>
                    <a:pt x="0" y="0"/>
                  </a:moveTo>
                  <a:lnTo>
                    <a:pt x="1867154" y="0"/>
                  </a:lnTo>
                  <a:lnTo>
                    <a:pt x="1867154" y="2336800"/>
                  </a:lnTo>
                  <a:lnTo>
                    <a:pt x="0" y="233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-2" b="-16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686550" y="7258050"/>
            <a:ext cx="885596" cy="1590599"/>
            <a:chOff x="0" y="0"/>
            <a:chExt cx="1180795" cy="212079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80846" cy="2120773"/>
            </a:xfrm>
            <a:custGeom>
              <a:avLst/>
              <a:gdLst/>
              <a:ahLst/>
              <a:cxnLst/>
              <a:rect r="r" b="b" t="t" l="l"/>
              <a:pathLst>
                <a:path h="2120773" w="1180846">
                  <a:moveTo>
                    <a:pt x="0" y="0"/>
                  </a:moveTo>
                  <a:lnTo>
                    <a:pt x="1180846" y="0"/>
                  </a:lnTo>
                  <a:lnTo>
                    <a:pt x="1180846" y="2120773"/>
                  </a:lnTo>
                  <a:lnTo>
                    <a:pt x="0" y="2120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-17" b="-1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7372350" y="7943850"/>
            <a:ext cx="381000" cy="381000"/>
            <a:chOff x="0" y="0"/>
            <a:chExt cx="508000" cy="508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508000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8610600" y="6858000"/>
            <a:ext cx="3048000" cy="2762402"/>
            <a:chOff x="0" y="0"/>
            <a:chExt cx="4064000" cy="3683203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064000" cy="3683200"/>
            </a:xfrm>
            <a:custGeom>
              <a:avLst/>
              <a:gdLst/>
              <a:ahLst/>
              <a:cxnLst/>
              <a:rect r="r" b="b" t="t" l="l"/>
              <a:pathLst>
                <a:path h="36832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3683200"/>
                  </a:lnTo>
                  <a:lnTo>
                    <a:pt x="0" y="368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281" t="0" r="-66281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4064000" cy="3683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Partially: </a:t>
              </a:r>
              <a:r>
                <a:rPr lang="en-US" b="true" sz="18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60%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No: </a:t>
              </a:r>
              <a:r>
                <a:rPr lang="en-US" b="true" sz="18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40%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Yes: </a:t>
              </a:r>
              <a:r>
                <a:rPr lang="en-US" b="true" sz="18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0%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258675" y="6534150"/>
            <a:ext cx="5467645" cy="3285830"/>
            <a:chOff x="0" y="0"/>
            <a:chExt cx="7290194" cy="438110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290181" cy="4381119"/>
            </a:xfrm>
            <a:custGeom>
              <a:avLst/>
              <a:gdLst/>
              <a:ahLst/>
              <a:cxnLst/>
              <a:rect r="r" b="b" t="t" l="l"/>
              <a:pathLst>
                <a:path h="4381119" w="7290181">
                  <a:moveTo>
                    <a:pt x="0" y="208585"/>
                  </a:moveTo>
                  <a:cubicBezTo>
                    <a:pt x="0" y="93339"/>
                    <a:pt x="114173" y="0"/>
                    <a:pt x="255143" y="0"/>
                  </a:cubicBezTo>
                  <a:lnTo>
                    <a:pt x="7035038" y="0"/>
                  </a:lnTo>
                  <a:cubicBezTo>
                    <a:pt x="7176008" y="0"/>
                    <a:pt x="7290181" y="93339"/>
                    <a:pt x="7290181" y="208585"/>
                  </a:cubicBezTo>
                  <a:lnTo>
                    <a:pt x="7290181" y="4172532"/>
                  </a:lnTo>
                  <a:cubicBezTo>
                    <a:pt x="7290181" y="4287778"/>
                    <a:pt x="7176008" y="4381119"/>
                    <a:pt x="7035038" y="4381119"/>
                  </a:cubicBezTo>
                  <a:lnTo>
                    <a:pt x="255143" y="4381119"/>
                  </a:lnTo>
                  <a:cubicBezTo>
                    <a:pt x="114173" y="4381119"/>
                    <a:pt x="0" y="4287674"/>
                    <a:pt x="0" y="4172532"/>
                  </a:cubicBezTo>
                  <a:close/>
                </a:path>
              </a:pathLst>
            </a:custGeom>
            <a:solidFill>
              <a:srgbClr val="F8FAFC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04" id="104"/>
          <p:cNvSpPr txBox="true"/>
          <p:nvPr/>
        </p:nvSpPr>
        <p:spPr>
          <a:xfrm rot="0">
            <a:off x="12553950" y="6534150"/>
            <a:ext cx="48768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Would Use Analytic Soft IP?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12534900" y="7258050"/>
            <a:ext cx="1752600" cy="1752600"/>
            <a:chOff x="0" y="0"/>
            <a:chExt cx="2336800" cy="2336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3368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2336800">
                  <a:moveTo>
                    <a:pt x="0" y="1168400"/>
                  </a:moveTo>
                  <a:cubicBezTo>
                    <a:pt x="0" y="523113"/>
                    <a:pt x="523113" y="0"/>
                    <a:pt x="1168400" y="0"/>
                  </a:cubicBezTo>
                  <a:cubicBezTo>
                    <a:pt x="1813687" y="0"/>
                    <a:pt x="2336800" y="523113"/>
                    <a:pt x="2336800" y="1168400"/>
                  </a:cubicBezTo>
                  <a:cubicBezTo>
                    <a:pt x="2336800" y="1813687"/>
                    <a:pt x="1813687" y="2336800"/>
                    <a:pt x="1168400" y="2336800"/>
                  </a:cubicBezTo>
                  <a:cubicBezTo>
                    <a:pt x="523113" y="2336800"/>
                    <a:pt x="0" y="1813687"/>
                    <a:pt x="0" y="116840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3048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411200" y="7258050"/>
            <a:ext cx="876595" cy="1590599"/>
            <a:chOff x="0" y="0"/>
            <a:chExt cx="1168794" cy="212079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168781" cy="2120773"/>
            </a:xfrm>
            <a:custGeom>
              <a:avLst/>
              <a:gdLst/>
              <a:ahLst/>
              <a:cxnLst/>
              <a:rect r="r" b="b" t="t" l="l"/>
              <a:pathLst>
                <a:path h="2120773" w="1168781">
                  <a:moveTo>
                    <a:pt x="0" y="0"/>
                  </a:moveTo>
                  <a:lnTo>
                    <a:pt x="1168781" y="0"/>
                  </a:lnTo>
                  <a:lnTo>
                    <a:pt x="1168781" y="2120773"/>
                  </a:lnTo>
                  <a:lnTo>
                    <a:pt x="0" y="2120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-1" b="-4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534900" y="7858125"/>
            <a:ext cx="1390802" cy="1152601"/>
            <a:chOff x="0" y="0"/>
            <a:chExt cx="1854403" cy="153680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854454" cy="1536827"/>
            </a:xfrm>
            <a:custGeom>
              <a:avLst/>
              <a:gdLst/>
              <a:ahLst/>
              <a:cxnLst/>
              <a:rect r="r" b="b" t="t" l="l"/>
              <a:pathLst>
                <a:path h="1536827" w="1854454">
                  <a:moveTo>
                    <a:pt x="0" y="0"/>
                  </a:moveTo>
                  <a:lnTo>
                    <a:pt x="1854454" y="0"/>
                  </a:lnTo>
                  <a:lnTo>
                    <a:pt x="1854454" y="1536827"/>
                  </a:lnTo>
                  <a:lnTo>
                    <a:pt x="0" y="153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2" b="-2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573000" y="7258050"/>
            <a:ext cx="847801" cy="705002"/>
            <a:chOff x="0" y="0"/>
            <a:chExt cx="1130402" cy="94000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130427" cy="940054"/>
            </a:xfrm>
            <a:custGeom>
              <a:avLst/>
              <a:gdLst/>
              <a:ahLst/>
              <a:cxnLst/>
              <a:rect r="r" b="b" t="t" l="l"/>
              <a:pathLst>
                <a:path h="940054" w="1130427">
                  <a:moveTo>
                    <a:pt x="0" y="0"/>
                  </a:moveTo>
                  <a:lnTo>
                    <a:pt x="1130427" y="0"/>
                  </a:lnTo>
                  <a:lnTo>
                    <a:pt x="1130427" y="940054"/>
                  </a:lnTo>
                  <a:lnTo>
                    <a:pt x="0" y="940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-10" b="5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220700" y="7943850"/>
            <a:ext cx="381000" cy="381000"/>
            <a:chOff x="0" y="0"/>
            <a:chExt cx="508000" cy="5080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508000" cy="517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10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458950" y="6858000"/>
            <a:ext cx="3048000" cy="2762402"/>
            <a:chOff x="0" y="0"/>
            <a:chExt cx="4064000" cy="3683203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064000" cy="3683200"/>
            </a:xfrm>
            <a:custGeom>
              <a:avLst/>
              <a:gdLst/>
              <a:ahLst/>
              <a:cxnLst/>
              <a:rect r="r" b="b" t="t" l="l"/>
              <a:pathLst>
                <a:path h="36832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3683200"/>
                  </a:lnTo>
                  <a:lnTo>
                    <a:pt x="0" y="368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6281" t="0" r="-66281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4064000" cy="3683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Yes: </a:t>
              </a:r>
              <a:r>
                <a:rPr lang="en-US" b="true" sz="18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40%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Maybe: </a:t>
              </a:r>
              <a:r>
                <a:rPr lang="en-US" b="true" sz="18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40%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F4444"/>
                  </a:solidFill>
                  <a:latin typeface="Inter"/>
                  <a:ea typeface="Inter"/>
                  <a:cs typeface="Inter"/>
                  <a:sym typeface="Inter"/>
                </a:rPr>
                <a:t>●</a:t>
              </a:r>
              <a:r>
                <a:rPr lang="en-US" sz="1899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No: </a:t>
              </a:r>
              <a:r>
                <a:rPr lang="en-US" b="true" sz="1899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20%</a:t>
              </a:r>
            </a:p>
          </p:txBody>
        </p:sp>
      </p:grpSp>
      <p:sp>
        <p:nvSpPr>
          <p:cNvPr name="TextBox 119" id="119"/>
          <p:cNvSpPr txBox="true"/>
          <p:nvPr/>
        </p:nvSpPr>
        <p:spPr>
          <a:xfrm rot="0">
            <a:off x="5817412" y="2199138"/>
            <a:ext cx="15231772" cy="33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1"/>
              </a:lnSpc>
            </a:pPr>
            <a:r>
              <a:rPr lang="en-US" sz="1865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4" tooltip="https://docs.google.com/spreadsheets/d/1PT-mD0JdhsJSw8ha95OlIpkfR-CbjbiA9QvEzoP1IFw/edit?usp=sharing"/>
              </a:rPr>
              <a:t>Response link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87" t="0" r="-87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-284" r="-2" b="-283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905000" y="391955"/>
            <a:ext cx="13024955" cy="1321408"/>
            <a:chOff x="0" y="0"/>
            <a:chExt cx="22860000" cy="231919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2860000" cy="2319196"/>
            </a:xfrm>
            <a:custGeom>
              <a:avLst/>
              <a:gdLst/>
              <a:ahLst/>
              <a:cxnLst/>
              <a:rect r="r" b="b" t="t" l="l"/>
              <a:pathLst>
                <a:path h="2319196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2319196"/>
                  </a:lnTo>
                  <a:lnTo>
                    <a:pt x="0" y="23191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47" r="0" b="-122175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22860000" cy="2357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b="true" sz="6600">
                  <a:solidFill>
                    <a:srgbClr val="0F172A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Survey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8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5802" y="1338586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4382" y="2370553"/>
            <a:ext cx="16553517" cy="7408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 configurable Performance Monitoring and Analytics Soft IP for RISC-V processors.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capture pipeline events (instruction valid, stall, flush, hazard, forwarding, memory, branch) through a non-intrusive wrapper.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compute IPC, CPI, pipeline efficiency, stage utilization, hazard distribution and forwarding efficiency automatically.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support Architectural Profiling and Microarchitectural Analysis, selected at run time by one configuration bit.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store raw counts and derived metrics in a memory-mapped Register Bank for easy retrieval.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verify the IP through RTL simulation on RISC-V pipelines using 2K and 10K instruction workloads.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9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44626" y="1291828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80276" y="2303669"/>
            <a:ext cx="14264640" cy="6974986"/>
            <a:chOff x="0" y="0"/>
            <a:chExt cx="19019520" cy="9299981"/>
          </a:xfrm>
        </p:grpSpPr>
        <p:sp>
          <p:nvSpPr>
            <p:cNvPr name="Freeform 11" id="11" descr="image28.png"/>
            <p:cNvSpPr/>
            <p:nvPr/>
          </p:nvSpPr>
          <p:spPr>
            <a:xfrm flipH="false" flipV="false" rot="0">
              <a:off x="0" y="0"/>
              <a:ext cx="19019520" cy="9299956"/>
            </a:xfrm>
            <a:custGeom>
              <a:avLst/>
              <a:gdLst/>
              <a:ahLst/>
              <a:cxnLst/>
              <a:rect r="r" b="b" t="t" l="l"/>
              <a:pathLst>
                <a:path h="929995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299956"/>
                  </a:lnTo>
                  <a:lnTo>
                    <a:pt x="0" y="92999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44626" y="1135961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 IP Architecture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8945" y="2216382"/>
            <a:ext cx="6410839" cy="6995160"/>
            <a:chOff x="0" y="0"/>
            <a:chExt cx="8547786" cy="9326880"/>
          </a:xfrm>
        </p:grpSpPr>
        <p:sp>
          <p:nvSpPr>
            <p:cNvPr name="Freeform 11" id="11" descr="image25.png"/>
            <p:cNvSpPr/>
            <p:nvPr/>
          </p:nvSpPr>
          <p:spPr>
            <a:xfrm flipH="false" flipV="false" rot="0">
              <a:off x="0" y="0"/>
              <a:ext cx="8547735" cy="9326880"/>
            </a:xfrm>
            <a:custGeom>
              <a:avLst/>
              <a:gdLst/>
              <a:ahLst/>
              <a:cxnLst/>
              <a:rect r="r" b="b" t="t" l="l"/>
              <a:pathLst>
                <a:path h="9326880" w="8547735">
                  <a:moveTo>
                    <a:pt x="0" y="0"/>
                  </a:moveTo>
                  <a:lnTo>
                    <a:pt x="8547735" y="0"/>
                  </a:lnTo>
                  <a:lnTo>
                    <a:pt x="8547735" y="9326880"/>
                  </a:lnTo>
                  <a:lnTo>
                    <a:pt x="0" y="932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339784" y="2275782"/>
            <a:ext cx="10268276" cy="560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784" indent="-244892" lvl="1">
              <a:lnSpc>
                <a:spcPts val="4438"/>
              </a:lnSpc>
              <a:buFont typeface="Arial"/>
              <a:buChar char="•"/>
            </a:pPr>
            <a:r>
              <a:rPr lang="en-US" b="true" sz="270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Event Collector: </a:t>
            </a:r>
            <a:r>
              <a:rPr lang="en-US" sz="27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pipeline signals from the wrapper every cycle (retire, stall, flush, hazard, forwarding, memory, branch).</a:t>
            </a:r>
          </a:p>
          <a:p>
            <a:pPr algn="l" marL="489784" indent="-244892" lvl="1">
              <a:lnSpc>
                <a:spcPts val="4438"/>
              </a:lnSpc>
              <a:buFont typeface="Arial"/>
              <a:buChar char="•"/>
            </a:pPr>
            <a:r>
              <a:rPr lang="en-US" b="true" sz="270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Event Counter Bank: </a:t>
            </a:r>
            <a:r>
              <a:rPr lang="en-US" sz="27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dedicated counter for each event type accumulates the pulses.</a:t>
            </a:r>
          </a:p>
          <a:p>
            <a:pPr algn="l" marL="489784" indent="-244892" lvl="1">
              <a:lnSpc>
                <a:spcPts val="4438"/>
              </a:lnSpc>
              <a:buFont typeface="Arial"/>
              <a:buChar char="•"/>
            </a:pPr>
            <a:r>
              <a:rPr lang="en-US" b="true" sz="270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Analytics Engine: </a:t>
            </a:r>
            <a:r>
              <a:rPr lang="en-US" sz="27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 arithmetic turns counts into IPC, CPI, utilization, hazard distribution and forwarding efficiency.</a:t>
            </a:r>
          </a:p>
          <a:p>
            <a:pPr algn="l" marL="489784" indent="-244892" lvl="1">
              <a:lnSpc>
                <a:spcPts val="4438"/>
              </a:lnSpc>
              <a:buFont typeface="Arial"/>
              <a:buChar char="•"/>
            </a:pPr>
            <a:r>
              <a:rPr lang="en-US" b="true" sz="270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 Controller: </a:t>
            </a:r>
            <a:r>
              <a:rPr lang="en-US" sz="27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selects Architectural or Microarchitectural mode and handles enable, reset and snapshots.</a:t>
            </a:r>
          </a:p>
          <a:p>
            <a:pPr algn="l" marL="489784" indent="-244892" lvl="1">
              <a:lnSpc>
                <a:spcPts val="4438"/>
              </a:lnSpc>
              <a:buFont typeface="Arial"/>
              <a:buChar char="•"/>
            </a:pPr>
            <a:r>
              <a:rPr lang="en-US" b="true" sz="270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Register Bank: </a:t>
            </a:r>
            <a:r>
              <a:rPr lang="en-US" sz="270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memory-mapped store of counters and metrics; a Configuration Register adjusts parameters while the processor runs.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0209" y="1253461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44910"/>
            <a:ext cx="11890077" cy="484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9" indent="-257889" lvl="1">
              <a:lnSpc>
                <a:spcPts val="4873"/>
              </a:lnSpc>
              <a:buFont typeface="Arial"/>
              <a:buChar char="•"/>
            </a:pPr>
            <a:r>
              <a:rPr lang="en-US" b="true" sz="28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RTL design: </a:t>
            </a: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3-stage and 5-stage RISC-V cores in Verilog.</a:t>
            </a:r>
          </a:p>
          <a:p>
            <a:pPr algn="l" marL="515779" indent="-257889" lvl="1">
              <a:lnSpc>
                <a:spcPts val="4873"/>
              </a:lnSpc>
              <a:buFont typeface="Arial"/>
              <a:buChar char="•"/>
            </a:pPr>
            <a:r>
              <a:rPr lang="en-US" b="true" sz="28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Workloads: </a:t>
            </a: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2K and 10K instruction programs in instruction memory.</a:t>
            </a:r>
          </a:p>
          <a:p>
            <a:pPr algn="l" marL="515779" indent="-257889" lvl="1">
              <a:lnSpc>
                <a:spcPts val="4873"/>
              </a:lnSpc>
              <a:buFont typeface="Arial"/>
              <a:buChar char="•"/>
            </a:pPr>
            <a:r>
              <a:rPr lang="en-US" b="true" sz="28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Functional simulation: </a:t>
            </a: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Xilinx Vivado Simulator (XSim).</a:t>
            </a:r>
          </a:p>
          <a:p>
            <a:pPr algn="l" marL="515779" indent="-257889" lvl="1">
              <a:lnSpc>
                <a:spcPts val="4873"/>
              </a:lnSpc>
              <a:buFont typeface="Arial"/>
              <a:buChar char="•"/>
            </a:pPr>
            <a:r>
              <a:rPr lang="en-US" b="true" sz="28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collection: </a:t>
            </a: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count, cycles, stalls and hazards.</a:t>
            </a:r>
          </a:p>
          <a:p>
            <a:pPr algn="l" marL="515779" indent="-257889" lvl="1">
              <a:lnSpc>
                <a:spcPts val="4873"/>
              </a:lnSpc>
              <a:buFont typeface="Arial"/>
              <a:buChar char="•"/>
            </a:pPr>
            <a:r>
              <a:rPr lang="en-US" b="true" sz="28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 Analytics IP: </a:t>
            </a: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turns collected data into metrics and reports.</a:t>
            </a:r>
          </a:p>
          <a:p>
            <a:pPr algn="l" marL="515779" indent="-257889" lvl="1">
              <a:lnSpc>
                <a:spcPts val="4873"/>
              </a:lnSpc>
              <a:buFont typeface="Arial"/>
              <a:buChar char="•"/>
            </a:pPr>
            <a:r>
              <a:rPr lang="en-US" b="true" sz="28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Top-level wrapper: </a:t>
            </a: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processor and IP.</a:t>
            </a:r>
          </a:p>
          <a:p>
            <a:pPr algn="l" marL="515779" indent="-257889" lvl="1">
              <a:lnSpc>
                <a:spcPts val="4873"/>
              </a:lnSpc>
              <a:buFont typeface="Arial"/>
              <a:buChar char="•"/>
            </a:pPr>
            <a:r>
              <a:rPr lang="en-US" b="true" sz="28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Integrated simulation: </a:t>
            </a: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 + wrapper + IP verified together.</a:t>
            </a:r>
          </a:p>
          <a:p>
            <a:pPr algn="l" marL="515779" indent="-257889" lvl="1">
              <a:lnSpc>
                <a:spcPts val="4873"/>
              </a:lnSpc>
              <a:buFont typeface="Arial"/>
              <a:buChar char="•"/>
            </a:pPr>
            <a:r>
              <a:rPr lang="en-US" b="true" sz="28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Scope: </a:t>
            </a:r>
            <a:r>
              <a:rPr lang="en-US"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RTL simulation only; no physical hardware is built.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220357" y="2333882"/>
            <a:ext cx="4659011" cy="6995160"/>
            <a:chOff x="0" y="0"/>
            <a:chExt cx="6212014" cy="9326880"/>
          </a:xfrm>
        </p:grpSpPr>
        <p:sp>
          <p:nvSpPr>
            <p:cNvPr name="Freeform 12" id="12" descr="image27.png"/>
            <p:cNvSpPr/>
            <p:nvPr/>
          </p:nvSpPr>
          <p:spPr>
            <a:xfrm flipH="false" flipV="false" rot="0">
              <a:off x="0" y="0"/>
              <a:ext cx="6212078" cy="9326880"/>
            </a:xfrm>
            <a:custGeom>
              <a:avLst/>
              <a:gdLst/>
              <a:ahLst/>
              <a:cxnLst/>
              <a:rect r="r" b="b" t="t" l="l"/>
              <a:pathLst>
                <a:path h="9326880" w="6212078">
                  <a:moveTo>
                    <a:pt x="0" y="0"/>
                  </a:moveTo>
                  <a:lnTo>
                    <a:pt x="6212078" y="0"/>
                  </a:lnTo>
                  <a:lnTo>
                    <a:pt x="6212078" y="9326880"/>
                  </a:lnTo>
                  <a:lnTo>
                    <a:pt x="0" y="932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12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75802" y="496919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Waveforms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8642" y="1948158"/>
            <a:ext cx="5443557" cy="47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Event Collector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1348" y="2496483"/>
            <a:ext cx="5912272" cy="2401862"/>
            <a:chOff x="0" y="0"/>
            <a:chExt cx="7883030" cy="3202483"/>
          </a:xfrm>
        </p:grpSpPr>
        <p:sp>
          <p:nvSpPr>
            <p:cNvPr name="Freeform 12" id="12" descr="image29.jpeg"/>
            <p:cNvSpPr/>
            <p:nvPr/>
          </p:nvSpPr>
          <p:spPr>
            <a:xfrm flipH="false" flipV="false" rot="0">
              <a:off x="0" y="0"/>
              <a:ext cx="7883017" cy="3202432"/>
            </a:xfrm>
            <a:custGeom>
              <a:avLst/>
              <a:gdLst/>
              <a:ahLst/>
              <a:cxnLst/>
              <a:rect r="r" b="b" t="t" l="l"/>
              <a:pathLst>
                <a:path h="3202432" w="7883017">
                  <a:moveTo>
                    <a:pt x="0" y="0"/>
                  </a:moveTo>
                  <a:lnTo>
                    <a:pt x="7883017" y="0"/>
                  </a:lnTo>
                  <a:lnTo>
                    <a:pt x="7883017" y="3202432"/>
                  </a:lnTo>
                  <a:lnTo>
                    <a:pt x="0" y="3202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36522" y="1948158"/>
            <a:ext cx="5443557" cy="47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Event Counter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365891" y="2496483"/>
            <a:ext cx="5820870" cy="2442200"/>
            <a:chOff x="0" y="0"/>
            <a:chExt cx="7761160" cy="3256267"/>
          </a:xfrm>
        </p:grpSpPr>
        <p:sp>
          <p:nvSpPr>
            <p:cNvPr name="Freeform 15" id="15" descr="image30.jpeg"/>
            <p:cNvSpPr/>
            <p:nvPr/>
          </p:nvSpPr>
          <p:spPr>
            <a:xfrm flipH="false" flipV="false" rot="0">
              <a:off x="0" y="0"/>
              <a:ext cx="7761224" cy="3256280"/>
            </a:xfrm>
            <a:custGeom>
              <a:avLst/>
              <a:gdLst/>
              <a:ahLst/>
              <a:cxnLst/>
              <a:rect r="r" b="b" t="t" l="l"/>
              <a:pathLst>
                <a:path h="3256280" w="7761224">
                  <a:moveTo>
                    <a:pt x="0" y="0"/>
                  </a:moveTo>
                  <a:lnTo>
                    <a:pt x="7761224" y="0"/>
                  </a:lnTo>
                  <a:lnTo>
                    <a:pt x="7761224" y="3256280"/>
                  </a:lnTo>
                  <a:lnTo>
                    <a:pt x="0" y="3256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434402" y="1948158"/>
            <a:ext cx="5443557" cy="47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Analytics Engine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412980" y="2496483"/>
            <a:ext cx="5684425" cy="2442200"/>
            <a:chOff x="0" y="0"/>
            <a:chExt cx="7579233" cy="3256267"/>
          </a:xfrm>
        </p:grpSpPr>
        <p:sp>
          <p:nvSpPr>
            <p:cNvPr name="Freeform 18" id="18" descr="image31.jpeg"/>
            <p:cNvSpPr/>
            <p:nvPr/>
          </p:nvSpPr>
          <p:spPr>
            <a:xfrm flipH="false" flipV="false" rot="0">
              <a:off x="0" y="0"/>
              <a:ext cx="7579233" cy="3256280"/>
            </a:xfrm>
            <a:custGeom>
              <a:avLst/>
              <a:gdLst/>
              <a:ahLst/>
              <a:cxnLst/>
              <a:rect r="r" b="b" t="t" l="l"/>
              <a:pathLst>
                <a:path h="3256280" w="7579233">
                  <a:moveTo>
                    <a:pt x="0" y="0"/>
                  </a:moveTo>
                  <a:lnTo>
                    <a:pt x="7579233" y="0"/>
                  </a:lnTo>
                  <a:lnTo>
                    <a:pt x="7579233" y="3256280"/>
                  </a:lnTo>
                  <a:lnTo>
                    <a:pt x="0" y="3256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02428" y="5511451"/>
            <a:ext cx="5443557" cy="47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 Controller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91348" y="6489887"/>
            <a:ext cx="5944638" cy="1250099"/>
            <a:chOff x="0" y="0"/>
            <a:chExt cx="7926184" cy="1666799"/>
          </a:xfrm>
        </p:grpSpPr>
        <p:sp>
          <p:nvSpPr>
            <p:cNvPr name="Freeform 21" id="21" descr="image32.jpeg"/>
            <p:cNvSpPr/>
            <p:nvPr/>
          </p:nvSpPr>
          <p:spPr>
            <a:xfrm flipH="false" flipV="false" rot="0">
              <a:off x="0" y="0"/>
              <a:ext cx="7926197" cy="1666748"/>
            </a:xfrm>
            <a:custGeom>
              <a:avLst/>
              <a:gdLst/>
              <a:ahLst/>
              <a:cxnLst/>
              <a:rect r="r" b="b" t="t" l="l"/>
              <a:pathLst>
                <a:path h="1666748" w="7926197">
                  <a:moveTo>
                    <a:pt x="0" y="0"/>
                  </a:moveTo>
                  <a:lnTo>
                    <a:pt x="7926197" y="0"/>
                  </a:lnTo>
                  <a:lnTo>
                    <a:pt x="7926197" y="1666748"/>
                  </a:lnTo>
                  <a:lnTo>
                    <a:pt x="0" y="1666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2303" t="0" r="-12303" b="-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500308" y="5511451"/>
            <a:ext cx="5443557" cy="47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Register Bank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78886" y="6059767"/>
            <a:ext cx="5892784" cy="2213886"/>
            <a:chOff x="0" y="0"/>
            <a:chExt cx="7857046" cy="2951848"/>
          </a:xfrm>
        </p:grpSpPr>
        <p:sp>
          <p:nvSpPr>
            <p:cNvPr name="Freeform 24" id="24" descr="image37.jpeg"/>
            <p:cNvSpPr/>
            <p:nvPr/>
          </p:nvSpPr>
          <p:spPr>
            <a:xfrm flipH="false" flipV="false" rot="0">
              <a:off x="0" y="0"/>
              <a:ext cx="7857109" cy="2951861"/>
            </a:xfrm>
            <a:custGeom>
              <a:avLst/>
              <a:gdLst/>
              <a:ahLst/>
              <a:cxnLst/>
              <a:rect r="r" b="b" t="t" l="l"/>
              <a:pathLst>
                <a:path h="2951861" w="7857109">
                  <a:moveTo>
                    <a:pt x="0" y="0"/>
                  </a:moveTo>
                  <a:lnTo>
                    <a:pt x="7857109" y="0"/>
                  </a:lnTo>
                  <a:lnTo>
                    <a:pt x="7857109" y="2951861"/>
                  </a:lnTo>
                  <a:lnTo>
                    <a:pt x="0" y="2951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0" y="5464626"/>
            <a:ext cx="5884716" cy="4410361"/>
            <a:chOff x="0" y="0"/>
            <a:chExt cx="7846289" cy="58804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46314" cy="5880481"/>
            </a:xfrm>
            <a:custGeom>
              <a:avLst/>
              <a:gdLst/>
              <a:ahLst/>
              <a:cxnLst/>
              <a:rect r="r" b="b" t="t" l="l"/>
              <a:pathLst>
                <a:path h="5880481" w="7846314">
                  <a:moveTo>
                    <a:pt x="0" y="0"/>
                  </a:moveTo>
                  <a:lnTo>
                    <a:pt x="7846314" y="0"/>
                  </a:lnTo>
                  <a:lnTo>
                    <a:pt x="7846314" y="5880481"/>
                  </a:lnTo>
                  <a:lnTo>
                    <a:pt x="0" y="5880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298135" y="2013293"/>
            <a:ext cx="5573222" cy="4673326"/>
          </a:xfrm>
          <a:custGeom>
            <a:avLst/>
            <a:gdLst/>
            <a:ahLst/>
            <a:cxnLst/>
            <a:rect r="r" b="b" t="t" l="l"/>
            <a:pathLst>
              <a:path h="4673326" w="5573222">
                <a:moveTo>
                  <a:pt x="0" y="0"/>
                </a:moveTo>
                <a:lnTo>
                  <a:pt x="5573222" y="0"/>
                </a:lnTo>
                <a:lnTo>
                  <a:pt x="5573222" y="4673326"/>
                </a:lnTo>
                <a:lnTo>
                  <a:pt x="0" y="46733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98135" y="6794555"/>
            <a:ext cx="4536275" cy="3147836"/>
          </a:xfrm>
          <a:custGeom>
            <a:avLst/>
            <a:gdLst/>
            <a:ahLst/>
            <a:cxnLst/>
            <a:rect r="r" b="b" t="t" l="l"/>
            <a:pathLst>
              <a:path h="3147836" w="4536275">
                <a:moveTo>
                  <a:pt x="0" y="0"/>
                </a:moveTo>
                <a:lnTo>
                  <a:pt x="4536276" y="0"/>
                </a:lnTo>
                <a:lnTo>
                  <a:pt x="4536276" y="3147836"/>
                </a:lnTo>
                <a:lnTo>
                  <a:pt x="0" y="3147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37924" y="1905357"/>
            <a:ext cx="5533032" cy="4781262"/>
          </a:xfrm>
          <a:custGeom>
            <a:avLst/>
            <a:gdLst/>
            <a:ahLst/>
            <a:cxnLst/>
            <a:rect r="r" b="b" t="t" l="l"/>
            <a:pathLst>
              <a:path h="4781262" w="5533032">
                <a:moveTo>
                  <a:pt x="0" y="0"/>
                </a:moveTo>
                <a:lnTo>
                  <a:pt x="5533032" y="0"/>
                </a:lnTo>
                <a:lnTo>
                  <a:pt x="5533032" y="4781262"/>
                </a:lnTo>
                <a:lnTo>
                  <a:pt x="0" y="4781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37924" y="6623359"/>
            <a:ext cx="4802705" cy="3319032"/>
          </a:xfrm>
          <a:custGeom>
            <a:avLst/>
            <a:gdLst/>
            <a:ahLst/>
            <a:cxnLst/>
            <a:rect r="r" b="b" t="t" l="l"/>
            <a:pathLst>
              <a:path h="3319032" w="4802705">
                <a:moveTo>
                  <a:pt x="0" y="0"/>
                </a:moveTo>
                <a:lnTo>
                  <a:pt x="4802705" y="0"/>
                </a:lnTo>
                <a:lnTo>
                  <a:pt x="4802705" y="3319032"/>
                </a:lnTo>
                <a:lnTo>
                  <a:pt x="0" y="33190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0727" y="2013293"/>
            <a:ext cx="5571654" cy="4673326"/>
          </a:xfrm>
          <a:custGeom>
            <a:avLst/>
            <a:gdLst/>
            <a:ahLst/>
            <a:cxnLst/>
            <a:rect r="r" b="b" t="t" l="l"/>
            <a:pathLst>
              <a:path h="4673326" w="5571654">
                <a:moveTo>
                  <a:pt x="0" y="0"/>
                </a:moveTo>
                <a:lnTo>
                  <a:pt x="5571654" y="0"/>
                </a:lnTo>
                <a:lnTo>
                  <a:pt x="5571654" y="4673326"/>
                </a:lnTo>
                <a:lnTo>
                  <a:pt x="0" y="46733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0727" y="6794555"/>
            <a:ext cx="4725307" cy="3260676"/>
          </a:xfrm>
          <a:custGeom>
            <a:avLst/>
            <a:gdLst/>
            <a:ahLst/>
            <a:cxnLst/>
            <a:rect r="r" b="b" t="t" l="l"/>
            <a:pathLst>
              <a:path h="3260676" w="4725307">
                <a:moveTo>
                  <a:pt x="0" y="0"/>
                </a:moveTo>
                <a:lnTo>
                  <a:pt x="4725307" y="0"/>
                </a:lnTo>
                <a:lnTo>
                  <a:pt x="4725307" y="3260675"/>
                </a:lnTo>
                <a:lnTo>
                  <a:pt x="0" y="32606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5869" y="1299705"/>
            <a:ext cx="2537997" cy="55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7"/>
              </a:lnSpc>
              <a:spcBef>
                <a:spcPct val="0"/>
              </a:spcBef>
            </a:pPr>
            <a:r>
              <a:rPr lang="en-US" b="true" sz="314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2k instructions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9364" y="1299705"/>
            <a:ext cx="2737454" cy="55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7"/>
              </a:lnSpc>
              <a:spcBef>
                <a:spcPct val="0"/>
              </a:spcBef>
            </a:pPr>
            <a:r>
              <a:rPr lang="en-US" b="true" sz="314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10k instructions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6587" y="460746"/>
            <a:ext cx="13448813" cy="70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7"/>
              </a:lnSpc>
              <a:spcBef>
                <a:spcPct val="0"/>
              </a:spcBef>
            </a:pPr>
            <a:r>
              <a:rPr lang="en-US" b="true" sz="404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 stage pipelining Processor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84806" y="1299705"/>
            <a:ext cx="2737454" cy="55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7"/>
              </a:lnSpc>
              <a:spcBef>
                <a:spcPct val="0"/>
              </a:spcBef>
            </a:pPr>
            <a:r>
              <a:rPr lang="en-US" b="true" sz="314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50k instructions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14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158972" y="6518049"/>
            <a:ext cx="4408076" cy="3768951"/>
          </a:xfrm>
          <a:custGeom>
            <a:avLst/>
            <a:gdLst/>
            <a:ahLst/>
            <a:cxnLst/>
            <a:rect r="r" b="b" t="t" l="l"/>
            <a:pathLst>
              <a:path h="3768951" w="4408076">
                <a:moveTo>
                  <a:pt x="0" y="0"/>
                </a:moveTo>
                <a:lnTo>
                  <a:pt x="4408076" y="0"/>
                </a:lnTo>
                <a:lnTo>
                  <a:pt x="4408076" y="3768951"/>
                </a:lnTo>
                <a:lnTo>
                  <a:pt x="0" y="3768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80" t="-6376" r="-54249" b="-318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58972" y="1472615"/>
            <a:ext cx="3942938" cy="5045434"/>
          </a:xfrm>
          <a:custGeom>
            <a:avLst/>
            <a:gdLst/>
            <a:ahLst/>
            <a:cxnLst/>
            <a:rect r="r" b="b" t="t" l="l"/>
            <a:pathLst>
              <a:path h="5045434" w="3942938">
                <a:moveTo>
                  <a:pt x="0" y="0"/>
                </a:moveTo>
                <a:lnTo>
                  <a:pt x="3942939" y="0"/>
                </a:lnTo>
                <a:lnTo>
                  <a:pt x="3942939" y="5045434"/>
                </a:lnTo>
                <a:lnTo>
                  <a:pt x="0" y="5045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14" t="0" r="-67202" b="-1070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3341" y="1755929"/>
            <a:ext cx="4499832" cy="4497857"/>
          </a:xfrm>
          <a:custGeom>
            <a:avLst/>
            <a:gdLst/>
            <a:ahLst/>
            <a:cxnLst/>
            <a:rect r="r" b="b" t="t" l="l"/>
            <a:pathLst>
              <a:path h="4497857" w="4499832">
                <a:moveTo>
                  <a:pt x="0" y="0"/>
                </a:moveTo>
                <a:lnTo>
                  <a:pt x="4499832" y="0"/>
                </a:lnTo>
                <a:lnTo>
                  <a:pt x="4499832" y="4497857"/>
                </a:lnTo>
                <a:lnTo>
                  <a:pt x="0" y="44978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305" r="-51982" b="-130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3341" y="6565674"/>
            <a:ext cx="3975209" cy="3287520"/>
          </a:xfrm>
          <a:custGeom>
            <a:avLst/>
            <a:gdLst/>
            <a:ahLst/>
            <a:cxnLst/>
            <a:rect r="r" b="b" t="t" l="l"/>
            <a:pathLst>
              <a:path h="3287520" w="3975209">
                <a:moveTo>
                  <a:pt x="0" y="0"/>
                </a:moveTo>
                <a:lnTo>
                  <a:pt x="3975209" y="0"/>
                </a:lnTo>
                <a:lnTo>
                  <a:pt x="3975209" y="3287520"/>
                </a:lnTo>
                <a:lnTo>
                  <a:pt x="0" y="32875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83226" b="-1699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18155" y="1993410"/>
            <a:ext cx="6069124" cy="4364858"/>
          </a:xfrm>
          <a:custGeom>
            <a:avLst/>
            <a:gdLst/>
            <a:ahLst/>
            <a:cxnLst/>
            <a:rect r="r" b="b" t="t" l="l"/>
            <a:pathLst>
              <a:path h="4364858" w="6069124">
                <a:moveTo>
                  <a:pt x="0" y="0"/>
                </a:moveTo>
                <a:lnTo>
                  <a:pt x="6069124" y="0"/>
                </a:lnTo>
                <a:lnTo>
                  <a:pt x="6069124" y="4364859"/>
                </a:lnTo>
                <a:lnTo>
                  <a:pt x="0" y="43648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57" t="0" r="-357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306033" y="6568744"/>
            <a:ext cx="7838689" cy="4308287"/>
          </a:xfrm>
          <a:custGeom>
            <a:avLst/>
            <a:gdLst/>
            <a:ahLst/>
            <a:cxnLst/>
            <a:rect r="r" b="b" t="t" l="l"/>
            <a:pathLst>
              <a:path h="4308287" w="7838689">
                <a:moveTo>
                  <a:pt x="0" y="0"/>
                </a:moveTo>
                <a:lnTo>
                  <a:pt x="7838689" y="0"/>
                </a:lnTo>
                <a:lnTo>
                  <a:pt x="7838689" y="4308287"/>
                </a:lnTo>
                <a:lnTo>
                  <a:pt x="0" y="43082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330159" y="1167299"/>
            <a:ext cx="3414959" cy="5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  <a:spcBef>
                <a:spcPct val="0"/>
              </a:spcBef>
            </a:pPr>
            <a:r>
              <a:rPr lang="en-US" b="true" sz="304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10k instructions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3341" y="1221496"/>
            <a:ext cx="4187175" cy="5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  <a:spcBef>
                <a:spcPct val="0"/>
              </a:spcBef>
            </a:pPr>
            <a:r>
              <a:rPr lang="en-US" b="true" sz="304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2k instructions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18155" y="1167299"/>
            <a:ext cx="4399094" cy="5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3"/>
              </a:lnSpc>
              <a:spcBef>
                <a:spcPct val="0"/>
              </a:spcBef>
            </a:pPr>
            <a:r>
              <a:rPr lang="en-US" b="true" sz="304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50k instructions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5218" y="321724"/>
            <a:ext cx="16744753" cy="70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7"/>
              </a:lnSpc>
              <a:spcBef>
                <a:spcPct val="0"/>
              </a:spcBef>
            </a:pPr>
            <a:r>
              <a:rPr lang="en-US" b="true" sz="404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 stage pipelining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15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1628" y="1369752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3048" y="2340769"/>
            <a:ext cx="16827837" cy="7585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Results: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Analytics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 successfully captures raw events and calculates performance metrics for 2K, 10K and 50K instruction workloads.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3-stage pipeline: IPC improves from 0.87 to 0.93, while CPI reduces from 1.14 to 1.07.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5-stage pipeline: At 50K instructions, IPC is 0.83 and CPI is 1.20.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Forwarding efficiency, hazard distribution and individual stage utilization are automatically reported.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Discussion – Insights Provided by Analytics IP: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tracking: IPC and CPI reveal how efficiently the processor executes different workloads.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ottleneck identification: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RAW, load-use and control hazard distributions identify major sources of pipeline inefficiency.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 analysis: Stage utilization reveals active and underutilized stages.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Forwarding analysis: Compares forwarding opportunities with successful forwarding operations.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optimization: Helps identify where hazard handling, forwarding and pipeline organization need improvement.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Outcome: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raw processor signals into measurable performance insights, reducing manual waveform inspection and additional analysis.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1628" y="1453753"/>
            <a:ext cx="16467115" cy="112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32"/>
              </a:lnSpc>
            </a:pPr>
            <a:r>
              <a:rPr lang="en-US" sz="54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Advantages, Applications and Scope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8154" y="2543575"/>
            <a:ext cx="8864868" cy="363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6"/>
              </a:lnSpc>
            </a:pPr>
            <a:r>
              <a:rPr lang="en-US" sz="392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</a:t>
            </a:r>
          </a:p>
          <a:p>
            <a:pPr algn="l" marL="516251" indent="-258125" lvl="1">
              <a:lnSpc>
                <a:spcPts val="3423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Non-intrusive: thin wrapper, processor RTL unchanged.</a:t>
            </a:r>
          </a:p>
          <a:p>
            <a:pPr algn="l" marL="516251" indent="-258125" lvl="1">
              <a:lnSpc>
                <a:spcPts val="3423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Reusable: only the wrapper signal mapping changes.</a:t>
            </a:r>
          </a:p>
          <a:p>
            <a:pPr algn="l" marL="516251" indent="-258125" lvl="1">
              <a:lnSpc>
                <a:spcPts val="3423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IPC, CPI, hazard and utilization metrics.</a:t>
            </a:r>
          </a:p>
          <a:p>
            <a:pPr algn="l" marL="516251" indent="-258125" lvl="1">
              <a:lnSpc>
                <a:spcPts val="3423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bit switches the analysis mode at run time.</a:t>
            </a:r>
          </a:p>
          <a:p>
            <a:pPr algn="l" marL="516251" indent="-258125" lvl="1">
              <a:lnSpc>
                <a:spcPts val="3423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Researchers take less time while evaluating performance</a:t>
            </a:r>
          </a:p>
          <a:p>
            <a:pPr algn="l" marL="516251" indent="-258125" lvl="1">
              <a:lnSpc>
                <a:spcPts val="3423"/>
              </a:lnSpc>
              <a:buFont typeface="Arial"/>
              <a:buChar char="•"/>
            </a:pPr>
            <a:r>
              <a:rPr lang="en-US" sz="28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the time for analysis</a:t>
            </a:r>
          </a:p>
          <a:p>
            <a:pPr algn="l">
              <a:lnSpc>
                <a:spcPts val="342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482572" y="2562625"/>
            <a:ext cx="9721388" cy="231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71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Applications</a:t>
            </a:r>
          </a:p>
          <a:p>
            <a:pPr algn="l" marL="515758" indent="-257879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 design and verification.</a:t>
            </a:r>
          </a:p>
          <a:p>
            <a:pPr algn="l" marL="515758" indent="-257879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optimization: hazards and forwarding.</a:t>
            </a:r>
          </a:p>
          <a:p>
            <a:pPr algn="l" marL="515758" indent="-257879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and real-time systems.</a:t>
            </a:r>
          </a:p>
          <a:p>
            <a:pPr algn="l" marL="515758" indent="-257879" lvl="1">
              <a:lnSpc>
                <a:spcPts val="341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Architectural profiling and benchmarking.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8154" y="6479620"/>
            <a:ext cx="15352697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1"/>
              </a:lnSpc>
            </a:pPr>
            <a:r>
              <a:rPr lang="en-US" b="true" sz="291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</a:t>
            </a:r>
          </a:p>
          <a:p>
            <a:pPr algn="l" marL="529162" indent="-264581" lvl="1">
              <a:lnSpc>
                <a:spcPts val="3508"/>
              </a:lnSpc>
              <a:buFont typeface="Arial"/>
              <a:buChar char="•"/>
            </a:pPr>
            <a:r>
              <a:rPr lang="en-US" sz="29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more RISC-V processor architectures and pipeline configurations.</a:t>
            </a:r>
          </a:p>
          <a:p>
            <a:pPr algn="l" marL="529162" indent="-264581" lvl="1">
              <a:lnSpc>
                <a:spcPts val="3508"/>
              </a:lnSpc>
              <a:buFont typeface="Arial"/>
              <a:buChar char="•"/>
            </a:pPr>
            <a:r>
              <a:rPr lang="en-US" sz="29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more performance events and advanced analytics metrics..</a:t>
            </a:r>
          </a:p>
          <a:p>
            <a:pPr algn="l" marL="529162" indent="-264581" lvl="1">
              <a:lnSpc>
                <a:spcPts val="3508"/>
              </a:lnSpc>
              <a:buFont typeface="Arial"/>
              <a:buChar char="•"/>
            </a:pPr>
            <a:r>
              <a:rPr lang="en-US" sz="29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measurement accuracy using higher-precision counters.</a:t>
            </a:r>
          </a:p>
          <a:p>
            <a:pPr algn="l">
              <a:lnSpc>
                <a:spcPts val="3508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17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0209" y="1185777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8789" y="2627252"/>
            <a:ext cx="16553517" cy="68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configurable Processor Analytics IP was designed in RTL to collect, count, and analyse architectural and microarchitectural events.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five modules are integrated through a thin wrapper without modifying the processor's functional RTL.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IP was evaluated using 3-stage and 5-stage RISC-V pipeline configurations with 2K, 10K and 50K instruction workloads.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reports performance metrics such as IPC, CPI, pipeline efficiency, forwarding efficiency, stage utilization and hazard distribution.</a:t>
            </a:r>
          </a:p>
          <a:p>
            <a:pPr algn="l" marL="570071" indent="-285036" lvl="1">
              <a:lnSpc>
                <a:spcPts val="4536"/>
              </a:lnSpc>
              <a:buFont typeface="Arial"/>
              <a:buChar char="•"/>
            </a:pPr>
            <a:r>
              <a:rPr lang="en-US" sz="31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IP provides quick, script-free performance insights to support microarchitectural optimization ideas and can be reused across RISC-V processor cores.</a:t>
            </a:r>
          </a:p>
          <a:p>
            <a:pPr algn="l">
              <a:lnSpc>
                <a:spcPts val="4536"/>
              </a:lnSpc>
            </a:pPr>
          </a:p>
          <a:p>
            <a:pPr algn="l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18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95436" y="1116644"/>
            <a:ext cx="16467115" cy="111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5111" y="2724150"/>
            <a:ext cx="16957779" cy="756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M. Domingos, T. Rocha, N. Neves, N. Roma, P. Tomas and L. Sousa, "Supporting RISC-V Performance Counters through Linux Performance Analysis Tools," in Proc. IEEE ASAP, 2023. https://doi.org/10.1109/ASAP57973.2023.00027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Eyerman, L. Eeckhout, T. Karkhanis and J. E. Smith, "A top-down approach to architecting CPI component performance counters," IEEE Micro, vol. 27, no. 1, pp. 84-93, 2007. https://doi.org/10.1109/MM.2007.3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Soares, T. Carvalho and L. M. Pinho, "Lightweight Performance Monitoring of Real-Time Applications in RISC-V Platforms," in Proc. Euromicro DSD, pp. 402-409, 2025.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J. Arribas et al., "Design and implementation of a synchronous Hardware Performance Monitor for a RISC-V space-oriented processor," Microprocess. Microsyst., vol. 112, 105132, 2025. https://doi.org/10.1016/j.micpro.2024.105132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Karabulut and A. Aysu, "Highly Reconfigurable Performance Monitoring Unit on RISC-V," in Proc. IEEE ICSICT, pp. 1-3, 2020. https://doi.org/10.1109/ICSICT49897.2020.9278263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42019" y="0"/>
            <a:ext cx="4646162" cy="1261977"/>
            <a:chOff x="0" y="0"/>
            <a:chExt cx="6194882" cy="16826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94933" cy="1682623"/>
            </a:xfrm>
            <a:custGeom>
              <a:avLst/>
              <a:gdLst/>
              <a:ahLst/>
              <a:cxnLst/>
              <a:rect r="r" b="b" t="t" l="l"/>
              <a:pathLst>
                <a:path h="1682623" w="6194933">
                  <a:moveTo>
                    <a:pt x="0" y="0"/>
                  </a:moveTo>
                  <a:lnTo>
                    <a:pt x="6194933" y="0"/>
                  </a:lnTo>
                  <a:lnTo>
                    <a:pt x="6194933" y="1682623"/>
                  </a:lnTo>
                  <a:lnTo>
                    <a:pt x="0" y="16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t="0" r="-8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292762" cy="1273864"/>
            <a:chOff x="0" y="0"/>
            <a:chExt cx="1723682" cy="16984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644" cy="1698498"/>
            </a:xfrm>
            <a:custGeom>
              <a:avLst/>
              <a:gdLst/>
              <a:ahLst/>
              <a:cxnLst/>
              <a:rect r="r" b="b" t="t" l="l"/>
              <a:pathLst>
                <a:path h="1698498" w="1723644">
                  <a:moveTo>
                    <a:pt x="0" y="0"/>
                  </a:moveTo>
                  <a:lnTo>
                    <a:pt x="1723644" y="0"/>
                  </a:lnTo>
                  <a:lnTo>
                    <a:pt x="1723644" y="1698498"/>
                  </a:lnTo>
                  <a:lnTo>
                    <a:pt x="0" y="169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84" r="-2" b="-2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5719" y="9534782"/>
            <a:ext cx="4114800" cy="547564"/>
            <a:chOff x="0" y="0"/>
            <a:chExt cx="5486400" cy="7300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080"/>
            </a:xfrm>
            <a:custGeom>
              <a:avLst/>
              <a:gdLst/>
              <a:ahLst/>
              <a:cxnLst/>
              <a:rect r="r" b="b" t="t" l="l"/>
              <a:pathLst>
                <a:path h="73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080"/>
                  </a:lnTo>
                  <a:lnTo>
                    <a:pt x="0" y="73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425" r="0" b="-96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5486400" cy="730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spc="-1">
                  <a:solidFill>
                    <a:srgbClr val="898989"/>
                  </a:solidFill>
                  <a:latin typeface="은 바탕"/>
                  <a:ea typeface="은 바탕"/>
                  <a:cs typeface="은 바탕"/>
                  <a:sym typeface="은 바탕"/>
                </a:rPr>
                <a:t>19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12521" y="1807378"/>
            <a:ext cx="7165257" cy="7017296"/>
            <a:chOff x="0" y="0"/>
            <a:chExt cx="9553677" cy="93563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53702" cy="9356344"/>
            </a:xfrm>
            <a:custGeom>
              <a:avLst/>
              <a:gdLst/>
              <a:ahLst/>
              <a:cxnLst/>
              <a:rect r="r" b="b" t="t" l="l"/>
              <a:pathLst>
                <a:path h="9356344" w="9553702">
                  <a:moveTo>
                    <a:pt x="0" y="0"/>
                  </a:moveTo>
                  <a:lnTo>
                    <a:pt x="9553702" y="0"/>
                  </a:lnTo>
                  <a:lnTo>
                    <a:pt x="9553702" y="9356344"/>
                  </a:lnTo>
                  <a:lnTo>
                    <a:pt x="0" y="9356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42977" y="2447820"/>
            <a:ext cx="3045600" cy="5119745"/>
            <a:chOff x="0" y="0"/>
            <a:chExt cx="4060800" cy="68263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0825" cy="6826377"/>
            </a:xfrm>
            <a:custGeom>
              <a:avLst/>
              <a:gdLst/>
              <a:ahLst/>
              <a:cxnLst/>
              <a:rect r="r" b="b" t="t" l="l"/>
              <a:pathLst>
                <a:path h="6826377" w="4060825">
                  <a:moveTo>
                    <a:pt x="0" y="0"/>
                  </a:moveTo>
                  <a:lnTo>
                    <a:pt x="4060825" y="0"/>
                  </a:lnTo>
                  <a:lnTo>
                    <a:pt x="4060825" y="6826377"/>
                  </a:lnTo>
                  <a:lnTo>
                    <a:pt x="0" y="682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006522" y="2309584"/>
            <a:ext cx="3045600" cy="5119745"/>
            <a:chOff x="0" y="0"/>
            <a:chExt cx="4060800" cy="68263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0825" cy="6826377"/>
            </a:xfrm>
            <a:custGeom>
              <a:avLst/>
              <a:gdLst/>
              <a:ahLst/>
              <a:cxnLst/>
              <a:rect r="r" b="b" t="t" l="l"/>
              <a:pathLst>
                <a:path h="6826377" w="4060825">
                  <a:moveTo>
                    <a:pt x="0" y="0"/>
                  </a:moveTo>
                  <a:lnTo>
                    <a:pt x="4060825" y="0"/>
                  </a:lnTo>
                  <a:lnTo>
                    <a:pt x="4060825" y="6826377"/>
                  </a:lnTo>
                  <a:lnTo>
                    <a:pt x="0" y="6826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DAHZZJKBcn4</dc:identifier>
  <dcterms:modified xsi:type="dcterms:W3CDTF">2011-08-01T06:04:30Z</dcterms:modified>
  <cp:revision>1</cp:revision>
  <dc:title>analytic_ip_risc_v</dc:title>
</cp:coreProperties>
</file>